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34"/>
  </p:notesMasterIdLst>
  <p:handoutMasterIdLst>
    <p:handoutMasterId r:id="rId35"/>
  </p:handoutMasterIdLst>
  <p:sldIdLst>
    <p:sldId id="814" r:id="rId6"/>
    <p:sldId id="840" r:id="rId7"/>
    <p:sldId id="825" r:id="rId8"/>
    <p:sldId id="816" r:id="rId9"/>
    <p:sldId id="815" r:id="rId10"/>
    <p:sldId id="817" r:id="rId11"/>
    <p:sldId id="818" r:id="rId12"/>
    <p:sldId id="838" r:id="rId13"/>
    <p:sldId id="819" r:id="rId14"/>
    <p:sldId id="822" r:id="rId15"/>
    <p:sldId id="820" r:id="rId16"/>
    <p:sldId id="835" r:id="rId17"/>
    <p:sldId id="833" r:id="rId18"/>
    <p:sldId id="827" r:id="rId19"/>
    <p:sldId id="828" r:id="rId20"/>
    <p:sldId id="821" r:id="rId21"/>
    <p:sldId id="824" r:id="rId22"/>
    <p:sldId id="834" r:id="rId23"/>
    <p:sldId id="837" r:id="rId24"/>
    <p:sldId id="839" r:id="rId25"/>
    <p:sldId id="836" r:id="rId26"/>
    <p:sldId id="823" r:id="rId27"/>
    <p:sldId id="829" r:id="rId28"/>
    <p:sldId id="826" r:id="rId29"/>
    <p:sldId id="830" r:id="rId30"/>
    <p:sldId id="831" r:id="rId31"/>
    <p:sldId id="832" r:id="rId32"/>
    <p:sldId id="488" r:id="rId33"/>
  </p:sldIdLst>
  <p:sldSz cx="12192000" cy="6858000"/>
  <p:notesSz cx="6888163" cy="100187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 &amp; Agenda" id="{2EBE640C-B686-4B91-9936-6FC45E123799}">
          <p14:sldIdLst>
            <p14:sldId id="814"/>
            <p14:sldId id="840"/>
          </p14:sldIdLst>
        </p14:section>
        <p14:section name="dm und dmTECH" id="{8A63E7A8-8EEC-42B6-8B5E-E2654A3B5D13}">
          <p14:sldIdLst>
            <p14:sldId id="825"/>
          </p14:sldIdLst>
        </p14:section>
        <p14:section name="Hauptteil" id="{00EBF935-91D2-483F-82DC-45EC7EF1D08A}">
          <p14:sldIdLst>
            <p14:sldId id="816"/>
            <p14:sldId id="815"/>
            <p14:sldId id="817"/>
            <p14:sldId id="818"/>
            <p14:sldId id="838"/>
            <p14:sldId id="819"/>
            <p14:sldId id="822"/>
            <p14:sldId id="820"/>
            <p14:sldId id="835"/>
            <p14:sldId id="833"/>
            <p14:sldId id="827"/>
            <p14:sldId id="828"/>
            <p14:sldId id="821"/>
            <p14:sldId id="824"/>
            <p14:sldId id="834"/>
            <p14:sldId id="837"/>
            <p14:sldId id="839"/>
            <p14:sldId id="836"/>
            <p14:sldId id="823"/>
            <p14:sldId id="829"/>
            <p14:sldId id="826"/>
            <p14:sldId id="830"/>
            <p14:sldId id="831"/>
            <p14:sldId id="832"/>
          </p14:sldIdLst>
        </p14:section>
        <p14:section name="Abschluss" id="{CADC0652-A798-4E59-BBFE-7EDD3AA7C321}">
          <p14:sldIdLst>
            <p14:sldId id="4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66" userDrawn="1">
          <p15:clr>
            <a:srgbClr val="A4A3A4"/>
          </p15:clr>
        </p15:guide>
        <p15:guide id="3" pos="7514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164" userDrawn="1">
          <p15:clr>
            <a:srgbClr val="A4A3A4"/>
          </p15:clr>
        </p15:guide>
        <p15:guide id="6" orient="horz" pos="4156" userDrawn="1">
          <p15:clr>
            <a:srgbClr val="A4A3A4"/>
          </p15:clr>
        </p15:guide>
        <p15:guide id="7" orient="horz" pos="75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ber, Caroline" initials="WC" lastIdx="28" clrIdx="0">
    <p:extLst>
      <p:ext uri="{19B8F6BF-5375-455C-9EA6-DF929625EA0E}">
        <p15:presenceInfo xmlns:p15="http://schemas.microsoft.com/office/powerpoint/2012/main" userId="S-1-5-21-3729822315-2538444063-1462972890-192372" providerId="AD"/>
      </p:ext>
    </p:extLst>
  </p:cmAuthor>
  <p:cmAuthor id="2" name="Maximilian Supper" initials="MS" lastIdx="1" clrIdx="1">
    <p:extLst>
      <p:ext uri="{19B8F6BF-5375-455C-9EA6-DF929625EA0E}">
        <p15:presenceInfo xmlns:p15="http://schemas.microsoft.com/office/powerpoint/2012/main" userId="Maximilian Supper" providerId="None"/>
      </p:ext>
    </p:extLst>
  </p:cmAuthor>
  <p:cmAuthor id="3" name="Weber, Caroline" initials="WC [2]" lastIdx="5" clrIdx="2">
    <p:extLst>
      <p:ext uri="{19B8F6BF-5375-455C-9EA6-DF929625EA0E}">
        <p15:presenceInfo xmlns:p15="http://schemas.microsoft.com/office/powerpoint/2012/main" userId="S::Caroline.Weber@dm.de::a561fcc7-3e60-48bd-98c5-dd94d47f7e8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99487"/>
    <a:srgbClr val="B2AFDC"/>
    <a:srgbClr val="E8E7F5"/>
    <a:srgbClr val="DDDCF0"/>
    <a:srgbClr val="FFDA65"/>
    <a:srgbClr val="DAF5F5"/>
    <a:srgbClr val="FAF3D7"/>
    <a:srgbClr val="909793"/>
    <a:srgbClr val="1051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1438"/>
  </p:normalViewPr>
  <p:slideViewPr>
    <p:cSldViewPr snapToGrid="0">
      <p:cViewPr varScale="1">
        <p:scale>
          <a:sx n="111" d="100"/>
          <a:sy n="111" d="100"/>
        </p:scale>
        <p:origin x="1232" y="208"/>
      </p:cViewPr>
      <p:guideLst>
        <p:guide orient="horz" pos="2160"/>
        <p:guide pos="166"/>
        <p:guide pos="7514"/>
        <p:guide pos="3840"/>
        <p:guide orient="horz" pos="164"/>
        <p:guide orient="horz" pos="4156"/>
        <p:guide orient="horz" pos="75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6C36477-9BAC-4DAE-9F11-C41F47DB2B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28C9985-7884-491F-961B-170453A6AC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r">
              <a:defRPr sz="1200"/>
            </a:lvl1pPr>
          </a:lstStyle>
          <a:p>
            <a:fld id="{E44CC01D-3F81-491C-B8A4-B02F1640DACF}" type="datetime1">
              <a:rPr lang="de-DE" smtClean="0"/>
              <a:t>18.03.25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FCFF1AF-8E27-4301-9F3C-FCF81785AE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662E8E-7BA6-4126-81A8-F0712159A8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r">
              <a:defRPr sz="1200"/>
            </a:lvl1pPr>
          </a:lstStyle>
          <a:p>
            <a:fld id="{C16FCDC0-4A5A-4D4C-B9B6-A8615F2B295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195743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ockup_0021_MacBook_FRONT.png">
            <a:extLst>
              <a:ext uri="{FF2B5EF4-FFF2-40B4-BE49-F238E27FC236}">
                <a16:creationId xmlns:a16="http://schemas.microsoft.com/office/drawing/2014/main" id="{1CEBE744-B3E1-4926-922C-4052A00298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517" y="1005169"/>
            <a:ext cx="6812025" cy="4413936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01699" y="3"/>
            <a:ext cx="2984870" cy="502676"/>
          </a:xfrm>
          <a:prstGeom prst="rect">
            <a:avLst/>
          </a:prstGeom>
        </p:spPr>
        <p:txBody>
          <a:bodyPr vert="horz" lIns="96566" tIns="179978" rIns="179978" bIns="48283" rtlCol="0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3AD374A-07ED-4F05-81C6-E512B0D3F429}" type="datetime1">
              <a:rPr lang="de-DE" smtClean="0"/>
              <a:t>18.03.25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27063" y="1200150"/>
            <a:ext cx="5624512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66" tIns="48283" rIns="96566" bIns="48283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288131" y="5822157"/>
            <a:ext cx="6421620" cy="3801230"/>
          </a:xfrm>
          <a:prstGeom prst="rect">
            <a:avLst/>
          </a:prstGeom>
        </p:spPr>
        <p:txBody>
          <a:bodyPr vert="horz" lIns="179978" tIns="179978" rIns="96566" bIns="48283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4" y="9623387"/>
            <a:ext cx="2984870" cy="395330"/>
          </a:xfrm>
          <a:prstGeom prst="rect">
            <a:avLst/>
          </a:prstGeom>
        </p:spPr>
        <p:txBody>
          <a:bodyPr vert="horz" lIns="251969" tIns="48283" rIns="96566" bIns="107987" rtlCol="0" anchor="b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de-DE"/>
              <a:t>© </a:t>
            </a:r>
            <a:r>
              <a:rPr lang="de-DE" err="1"/>
              <a:t>dmTECH</a:t>
            </a:r>
            <a:r>
              <a:rPr lang="de-DE"/>
              <a:t> GmbH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01699" y="9623387"/>
            <a:ext cx="2984870" cy="395330"/>
          </a:xfrm>
          <a:prstGeom prst="rect">
            <a:avLst/>
          </a:prstGeom>
        </p:spPr>
        <p:txBody>
          <a:bodyPr vert="horz" lIns="96566" tIns="48283" rIns="179978" bIns="107987" rtlCol="0"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53776F3-9E65-4ECC-9FFD-527764449C1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Halber Rahmen 8">
            <a:extLst>
              <a:ext uri="{FF2B5EF4-FFF2-40B4-BE49-F238E27FC236}">
                <a16:creationId xmlns:a16="http://schemas.microsoft.com/office/drawing/2014/main" id="{354703E9-2A46-413A-8F7E-2E3BB538F4EB}"/>
              </a:ext>
            </a:extLst>
          </p:cNvPr>
          <p:cNvSpPr/>
          <p:nvPr/>
        </p:nvSpPr>
        <p:spPr>
          <a:xfrm>
            <a:off x="269222" y="5801837"/>
            <a:ext cx="1096546" cy="1390566"/>
          </a:xfrm>
          <a:prstGeom prst="halfFrame">
            <a:avLst>
              <a:gd name="adj1" fmla="val 3347"/>
              <a:gd name="adj2" fmla="val 325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088" tIns="52544" rIns="105088" bIns="52544" rtlCol="0" anchor="ctr"/>
          <a:lstStyle/>
          <a:p>
            <a:pPr algn="ctr"/>
            <a:endParaRPr lang="de-DE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0" name="Halber Rahmen 9">
            <a:extLst>
              <a:ext uri="{FF2B5EF4-FFF2-40B4-BE49-F238E27FC236}">
                <a16:creationId xmlns:a16="http://schemas.microsoft.com/office/drawing/2014/main" id="{1AFBFF6E-D470-45FA-BD16-1484FB7907D5}"/>
              </a:ext>
            </a:extLst>
          </p:cNvPr>
          <p:cNvSpPr/>
          <p:nvPr/>
        </p:nvSpPr>
        <p:spPr>
          <a:xfrm rot="5400000">
            <a:off x="5460685" y="5989849"/>
            <a:ext cx="1437078" cy="1061056"/>
          </a:xfrm>
          <a:prstGeom prst="halfFrame">
            <a:avLst>
              <a:gd name="adj1" fmla="val 3347"/>
              <a:gd name="adj2" fmla="val 325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088" tIns="52544" rIns="105088" bIns="52544" rtlCol="0" anchor="ctr"/>
          <a:lstStyle/>
          <a:p>
            <a:pPr algn="ctr"/>
            <a:endParaRPr lang="de-DE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1" name="Halber Rahmen 10">
            <a:extLst>
              <a:ext uri="{FF2B5EF4-FFF2-40B4-BE49-F238E27FC236}">
                <a16:creationId xmlns:a16="http://schemas.microsoft.com/office/drawing/2014/main" id="{B3257F23-0BD9-4B9F-AC25-DDE1798110B2}"/>
              </a:ext>
            </a:extLst>
          </p:cNvPr>
          <p:cNvSpPr/>
          <p:nvPr/>
        </p:nvSpPr>
        <p:spPr>
          <a:xfrm rot="10800000">
            <a:off x="5613204" y="8232818"/>
            <a:ext cx="1096546" cy="1390566"/>
          </a:xfrm>
          <a:prstGeom prst="halfFrame">
            <a:avLst>
              <a:gd name="adj1" fmla="val 3347"/>
              <a:gd name="adj2" fmla="val 325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088" tIns="52544" rIns="105088" bIns="52544" rtlCol="0" anchor="ctr"/>
          <a:lstStyle/>
          <a:p>
            <a:pPr algn="ctr"/>
            <a:endParaRPr lang="de-DE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2" name="Halber Rahmen 11">
            <a:extLst>
              <a:ext uri="{FF2B5EF4-FFF2-40B4-BE49-F238E27FC236}">
                <a16:creationId xmlns:a16="http://schemas.microsoft.com/office/drawing/2014/main" id="{C7388775-8726-4BB6-821A-1DE6E420A260}"/>
              </a:ext>
            </a:extLst>
          </p:cNvPr>
          <p:cNvSpPr/>
          <p:nvPr/>
        </p:nvSpPr>
        <p:spPr>
          <a:xfrm rot="16200000">
            <a:off x="81215" y="8374317"/>
            <a:ext cx="1437078" cy="1061056"/>
          </a:xfrm>
          <a:prstGeom prst="halfFrame">
            <a:avLst>
              <a:gd name="adj1" fmla="val 3347"/>
              <a:gd name="adj2" fmla="val 325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088" tIns="52544" rIns="105088" bIns="52544" rtlCol="0" anchor="ctr"/>
          <a:lstStyle/>
          <a:p>
            <a:pPr algn="ctr"/>
            <a:endParaRPr lang="de-DE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1059789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288000" indent="-288000" algn="l" defTabSz="914400" rtl="0" eaLnBrk="1" latinLnBrk="0" hangingPunct="1">
      <a:spcBef>
        <a:spcPts val="600"/>
      </a:spcBef>
      <a:buClr>
        <a:schemeClr val="accent1"/>
      </a:buClr>
      <a:buFont typeface="Wingdings" panose="05000000000000000000" pitchFamily="2" charset="2"/>
      <a:buChar char="§"/>
      <a:defRPr sz="1400" b="0" i="0" kern="1200" baseline="0">
        <a:solidFill>
          <a:schemeClr val="accent1"/>
        </a:solidFill>
        <a:latin typeface="+mn-lt"/>
        <a:ea typeface="+mn-ea"/>
        <a:cs typeface="+mn-cs"/>
      </a:defRPr>
    </a:lvl1pPr>
    <a:lvl2pPr marL="576000" indent="-288000" algn="l" defTabSz="914400" rtl="0" eaLnBrk="1" latinLnBrk="0" hangingPunct="1">
      <a:spcBef>
        <a:spcPts val="400"/>
      </a:spcBef>
      <a:buClr>
        <a:schemeClr val="accent1"/>
      </a:buClr>
      <a:buFont typeface="Symbol" panose="05050102010706020507" pitchFamily="18" charset="2"/>
      <a:buChar char="-"/>
      <a:defRPr sz="1200" b="0" kern="1200">
        <a:solidFill>
          <a:schemeClr val="tx2"/>
        </a:solidFill>
        <a:latin typeface="+mn-lt"/>
        <a:ea typeface="+mn-ea"/>
        <a:cs typeface="+mn-cs"/>
      </a:defRPr>
    </a:lvl2pPr>
    <a:lvl3pPr marL="864000" indent="-288000" algn="l" defTabSz="914400" rtl="0" eaLnBrk="1" latinLnBrk="0" hangingPunct="1">
      <a:spcBef>
        <a:spcPts val="400"/>
      </a:spcBef>
      <a:buClr>
        <a:schemeClr val="accent1"/>
      </a:buClr>
      <a:buFont typeface="Symbol" panose="05050102010706020507" pitchFamily="18" charset="2"/>
      <a:buChar char="-"/>
      <a:defRPr sz="1200" b="0" kern="1200">
        <a:solidFill>
          <a:schemeClr val="tx2"/>
        </a:solidFill>
        <a:latin typeface="+mn-lt"/>
        <a:ea typeface="+mn-ea"/>
        <a:cs typeface="+mn-cs"/>
      </a:defRPr>
    </a:lvl3pPr>
    <a:lvl4pPr marL="1152000" indent="-288000" algn="l" defTabSz="914400" rtl="0" eaLnBrk="1" latinLnBrk="0" hangingPunct="1">
      <a:spcBef>
        <a:spcPts val="400"/>
      </a:spcBef>
      <a:buClr>
        <a:schemeClr val="accent1"/>
      </a:buClr>
      <a:buFont typeface="Symbol" panose="05050102010706020507" pitchFamily="18" charset="2"/>
      <a:buChar char="-"/>
      <a:defRPr sz="1200" b="0" kern="1200">
        <a:solidFill>
          <a:schemeClr val="tx2"/>
        </a:solidFill>
        <a:latin typeface="+mn-lt"/>
        <a:ea typeface="+mn-ea"/>
        <a:cs typeface="+mn-cs"/>
      </a:defRPr>
    </a:lvl4pPr>
    <a:lvl5pPr marL="1440000" indent="-288000" algn="l" defTabSz="914400" rtl="0" eaLnBrk="1" latinLnBrk="0" hangingPunct="1">
      <a:spcBef>
        <a:spcPts val="400"/>
      </a:spcBef>
      <a:buClr>
        <a:schemeClr val="accent1"/>
      </a:buClr>
      <a:buFont typeface="Symbol" panose="05050102010706020507" pitchFamily="18" charset="2"/>
      <a:buChar char="-"/>
      <a:defRPr sz="1200" b="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Abstract:</a:t>
            </a: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dirty="0"/>
              <a:t>Dieser </a:t>
            </a:r>
            <a:r>
              <a:rPr lang="en-GB" dirty="0" err="1"/>
              <a:t>Vortrag</a:t>
            </a:r>
            <a:r>
              <a:rPr lang="en-GB" dirty="0"/>
              <a:t> </a:t>
            </a:r>
            <a:r>
              <a:rPr lang="en-GB" dirty="0" err="1"/>
              <a:t>zeigt</a:t>
            </a:r>
            <a:r>
              <a:rPr lang="en-GB" dirty="0"/>
              <a:t>, </a:t>
            </a:r>
            <a:r>
              <a:rPr lang="en-GB" dirty="0" err="1"/>
              <a:t>wie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praktisch</a:t>
            </a:r>
            <a:r>
              <a:rPr lang="en-GB" dirty="0"/>
              <a:t> </a:t>
            </a:r>
            <a:r>
              <a:rPr lang="en-GB" dirty="0" err="1"/>
              <a:t>keinem</a:t>
            </a:r>
            <a:r>
              <a:rPr lang="en-GB" dirty="0"/>
              <a:t> </a:t>
            </a:r>
            <a:r>
              <a:rPr lang="en-GB" dirty="0" err="1"/>
              <a:t>laufenden</a:t>
            </a:r>
            <a:r>
              <a:rPr lang="en-GB" dirty="0"/>
              <a:t> </a:t>
            </a:r>
            <a:r>
              <a:rPr lang="en-GB" dirty="0" err="1"/>
              <a:t>Aufwand</a:t>
            </a:r>
            <a:r>
              <a:rPr lang="en-GB" dirty="0"/>
              <a:t> alle Linux Server </a:t>
            </a:r>
            <a:r>
              <a:rPr lang="en-GB" u="sng" dirty="0" err="1"/>
              <a:t>regelmäßig</a:t>
            </a:r>
            <a:r>
              <a:rPr lang="en-GB" dirty="0"/>
              <a:t> und </a:t>
            </a:r>
            <a:r>
              <a:rPr lang="en-GB" dirty="0" err="1"/>
              <a:t>vor</a:t>
            </a:r>
            <a:r>
              <a:rPr lang="en-GB" dirty="0"/>
              <a:t> </a:t>
            </a:r>
            <a:r>
              <a:rPr lang="en-GB" dirty="0" err="1"/>
              <a:t>allem</a:t>
            </a:r>
            <a:r>
              <a:rPr lang="en-GB" dirty="0"/>
              <a:t> </a:t>
            </a:r>
            <a:r>
              <a:rPr lang="en-GB" u="sng" dirty="0" err="1"/>
              <a:t>zeitnah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Betriebssystems</a:t>
            </a:r>
            <a:r>
              <a:rPr lang="en-GB" dirty="0"/>
              <a:t>-Updates </a:t>
            </a:r>
            <a:r>
              <a:rPr lang="en-GB" dirty="0" err="1"/>
              <a:t>versorgt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können</a:t>
            </a:r>
            <a:r>
              <a:rPr lang="en-GB" dirty="0"/>
              <a:t> </a:t>
            </a:r>
            <a:r>
              <a:rPr lang="en-GB" dirty="0" err="1"/>
              <a:t>anhand</a:t>
            </a:r>
            <a:r>
              <a:rPr lang="en-GB" dirty="0"/>
              <a:t> des </a:t>
            </a:r>
            <a:r>
              <a:rPr lang="en-GB" dirty="0" err="1"/>
              <a:t>Beispiels</a:t>
            </a:r>
            <a:r>
              <a:rPr lang="en-GB" dirty="0"/>
              <a:t> von </a:t>
            </a:r>
            <a:r>
              <a:rPr lang="en-DE" dirty="0"/>
              <a:t>dmTECH. dmTECH betreibt die </a:t>
            </a:r>
            <a:r>
              <a:rPr lang="en-GB" dirty="0" err="1"/>
              <a:t>gesamte</a:t>
            </a:r>
            <a:r>
              <a:rPr lang="en-GB" dirty="0"/>
              <a:t> IT des dm-</a:t>
            </a:r>
            <a:r>
              <a:rPr lang="en-GB" dirty="0" err="1"/>
              <a:t>Konzerns</a:t>
            </a:r>
            <a:r>
              <a:rPr lang="en-GB" dirty="0"/>
              <a:t> für 14 Länder und </a:t>
            </a:r>
            <a:r>
              <a:rPr lang="en-GB" dirty="0" err="1"/>
              <a:t>dort</a:t>
            </a:r>
            <a:r>
              <a:rPr lang="en-GB" dirty="0"/>
              <a:t> </a:t>
            </a:r>
            <a:r>
              <a:rPr lang="en-GB" dirty="0" err="1"/>
              <a:t>u.a.</a:t>
            </a:r>
            <a:r>
              <a:rPr lang="en-GB" dirty="0"/>
              <a:t> “business-critical”-</a:t>
            </a:r>
            <a:r>
              <a:rPr lang="en-GB" dirty="0" err="1"/>
              <a:t>Systeme</a:t>
            </a:r>
            <a:r>
              <a:rPr lang="en-GB" dirty="0"/>
              <a:t> für den </a:t>
            </a:r>
            <a:r>
              <a:rPr lang="en-GB" dirty="0" err="1"/>
              <a:t>gesamten</a:t>
            </a:r>
            <a:r>
              <a:rPr lang="en-GB" dirty="0"/>
              <a:t> </a:t>
            </a:r>
            <a:r>
              <a:rPr lang="en-GB" dirty="0" err="1"/>
              <a:t>Konzern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4000 </a:t>
            </a:r>
            <a:r>
              <a:rPr lang="en-GB" dirty="0" err="1"/>
              <a:t>Filialen</a:t>
            </a:r>
            <a:r>
              <a:rPr lang="en-GB" dirty="0"/>
              <a:t> und </a:t>
            </a:r>
            <a:r>
              <a:rPr lang="en-GB" dirty="0" err="1"/>
              <a:t>einem</a:t>
            </a:r>
            <a:r>
              <a:rPr lang="en-GB" dirty="0"/>
              <a:t> Online-Shop. Dieser </a:t>
            </a:r>
            <a:r>
              <a:rPr lang="en-GB" dirty="0" err="1"/>
              <a:t>Vortrag</a:t>
            </a:r>
            <a:r>
              <a:rPr lang="en-GB" dirty="0"/>
              <a:t> </a:t>
            </a:r>
            <a:r>
              <a:rPr lang="en-GB" dirty="0" err="1"/>
              <a:t>richtet</a:t>
            </a:r>
            <a:r>
              <a:rPr lang="en-GB" dirty="0"/>
              <a:t> </a:t>
            </a:r>
            <a:r>
              <a:rPr lang="en-GB" dirty="0" err="1"/>
              <a:t>sich</a:t>
            </a:r>
            <a:r>
              <a:rPr lang="en-GB" dirty="0"/>
              <a:t> an </a:t>
            </a:r>
            <a:r>
              <a:rPr lang="en-GB" dirty="0" err="1"/>
              <a:t>eher</a:t>
            </a:r>
            <a:r>
              <a:rPr lang="en-GB" dirty="0"/>
              <a:t> </a:t>
            </a:r>
            <a:r>
              <a:rPr lang="en-GB" dirty="0" err="1"/>
              <a:t>technisch</a:t>
            </a:r>
            <a:r>
              <a:rPr lang="en-GB" dirty="0"/>
              <a:t> </a:t>
            </a:r>
            <a:r>
              <a:rPr lang="en-GB" dirty="0" err="1"/>
              <a:t>fortgeschrittene</a:t>
            </a:r>
            <a:r>
              <a:rPr lang="en-GB" dirty="0"/>
              <a:t> </a:t>
            </a:r>
            <a:r>
              <a:rPr lang="en-GB" dirty="0" err="1"/>
              <a:t>Systemadministratoren</a:t>
            </a:r>
            <a:r>
              <a:rPr lang="en-GB" dirty="0"/>
              <a:t> und </a:t>
            </a:r>
            <a:r>
              <a:rPr lang="en-GB" dirty="0" err="1"/>
              <a:t>Entscheider</a:t>
            </a:r>
            <a:r>
              <a:rPr lang="en-GB" dirty="0"/>
              <a:t>, die den BSI-</a:t>
            </a:r>
            <a:r>
              <a:rPr lang="en-GB" dirty="0" err="1"/>
              <a:t>Grundschutz</a:t>
            </a:r>
            <a:r>
              <a:rPr lang="en-GB" dirty="0"/>
              <a:t> </a:t>
            </a:r>
            <a:r>
              <a:rPr lang="en-GB" dirty="0" err="1"/>
              <a:t>umsetzen</a:t>
            </a:r>
            <a:r>
              <a:rPr lang="en-GB" dirty="0"/>
              <a:t> </a:t>
            </a:r>
            <a:r>
              <a:rPr lang="en-GB" dirty="0" err="1"/>
              <a:t>wollen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müssen</a:t>
            </a:r>
            <a:r>
              <a:rPr lang="en-GB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3AD374A-07ED-4F05-81C6-E512B0D3F429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© dmTECH GmbH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776F3-9E65-4ECC-9FFD-527764449C1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0204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3AD374A-07ED-4F05-81C6-E512B0D3F429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© dmTECH GmbH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776F3-9E65-4ECC-9FFD-527764449C15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500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3AD374A-07ED-4F05-81C6-E512B0D3F429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© dmTECH GmbH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776F3-9E65-4ECC-9FFD-527764449C15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8219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DE" dirty="0"/>
              <a:t>ctivationkeys sind eigentlich KEIN Secret, aber manchen bestehen darauf… :-/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3AD374A-07ED-4F05-81C6-E512B0D3F429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© dmTECH GmbH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776F3-9E65-4ECC-9FFD-527764449C15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709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3AD374A-07ED-4F05-81C6-E512B0D3F429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© dmTECH GmbH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776F3-9E65-4ECC-9FFD-527764449C15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6393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3AD374A-07ED-4F05-81C6-E512B0D3F429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© dmTECH GmbH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776F3-9E65-4ECC-9FFD-527764449C15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0075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3AD374A-07ED-4F05-81C6-E512B0D3F429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© dmTECH GmbH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776F3-9E65-4ECC-9FFD-527764449C15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8700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#2 </a:t>
            </a:r>
            <a:r>
              <a:rPr lang="en-DE" dirty="0">
                <a:sym typeface="Wingdings" pitchFamily="2" charset="2"/>
              </a:rPr>
              <a:t> Hooks zum Vor/nachbereiten.</a:t>
            </a:r>
            <a:endParaRPr lang="en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3AD374A-07ED-4F05-81C6-E512B0D3F429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© dmTECH GmbH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776F3-9E65-4ECC-9FFD-527764449C15}" type="slidenum">
              <a:rPr lang="de-DE" smtClean="0"/>
              <a:pPr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9260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3AD374A-07ED-4F05-81C6-E512B0D3F429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© dmTECH GmbH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776F3-9E65-4ECC-9FFD-527764449C15}" type="slidenum">
              <a:rPr lang="de-DE" smtClean="0"/>
              <a:pPr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2352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267, 260, 35, 340, 0/876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3AD374A-07ED-4F05-81C6-E512B0D3F429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© dmTECH GmbH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776F3-9E65-4ECC-9FFD-527764449C15}" type="slidenum">
              <a:rPr lang="de-DE" smtClean="0"/>
              <a:pPr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4914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EF69277-4B26-43A7-93E8-72590CC6CAD6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© dmTECH GmbH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776F3-9E65-4ECC-9FFD-527764449C15}" type="slidenum">
              <a:rPr lang="de-DE" smtClean="0"/>
              <a:pPr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9696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lu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69768A-003A-41C0-A6D7-312E1EBD19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F9386BF-2302-4FBA-AD50-1FB1C4EEB83D}"/>
              </a:ext>
            </a:extLst>
          </p:cNvPr>
          <p:cNvGrpSpPr/>
          <p:nvPr userDrawn="1"/>
        </p:nvGrpSpPr>
        <p:grpSpPr>
          <a:xfrm>
            <a:off x="263526" y="4879338"/>
            <a:ext cx="2879723" cy="1727836"/>
            <a:chOff x="263526" y="3950374"/>
            <a:chExt cx="4427996" cy="2656800"/>
          </a:xfrm>
        </p:grpSpPr>
        <p:sp>
          <p:nvSpPr>
            <p:cNvPr id="7" name="Rechtwinkliges Dreieck 6">
              <a:extLst>
                <a:ext uri="{FF2B5EF4-FFF2-40B4-BE49-F238E27FC236}">
                  <a16:creationId xmlns:a16="http://schemas.microsoft.com/office/drawing/2014/main" id="{816EEC3F-406E-4CBA-A0EF-91750062B84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39503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winkliges Dreieck 7">
              <a:extLst>
                <a:ext uri="{FF2B5EF4-FFF2-40B4-BE49-F238E27FC236}">
                  <a16:creationId xmlns:a16="http://schemas.microsoft.com/office/drawing/2014/main" id="{468992AD-9759-4F23-8AE0-9E1C0DE7C43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winkliges Dreieck 8">
              <a:extLst>
                <a:ext uri="{FF2B5EF4-FFF2-40B4-BE49-F238E27FC236}">
                  <a16:creationId xmlns:a16="http://schemas.microsoft.com/office/drawing/2014/main" id="{40BD2A8A-492E-4614-9495-3D1DA8FF58B0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57215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winkliges Dreieck 9">
              <a:extLst>
                <a:ext uri="{FF2B5EF4-FFF2-40B4-BE49-F238E27FC236}">
                  <a16:creationId xmlns:a16="http://schemas.microsoft.com/office/drawing/2014/main" id="{AFD8B9C7-838B-4D42-B65D-4A470664818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149126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winkliges Dreieck 10">
              <a:extLst>
                <a:ext uri="{FF2B5EF4-FFF2-40B4-BE49-F238E27FC236}">
                  <a16:creationId xmlns:a16="http://schemas.microsoft.com/office/drawing/2014/main" id="{99D0D327-74B0-4790-9E07-C530E4194DD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20325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winkliges Dreieck 11">
              <a:extLst>
                <a:ext uri="{FF2B5EF4-FFF2-40B4-BE49-F238E27FC236}">
                  <a16:creationId xmlns:a16="http://schemas.microsoft.com/office/drawing/2014/main" id="{8701F087-063E-49A5-BB99-1731A9FB163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034724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winkliges Dreieck 12">
              <a:extLst>
                <a:ext uri="{FF2B5EF4-FFF2-40B4-BE49-F238E27FC236}">
                  <a16:creationId xmlns:a16="http://schemas.microsoft.com/office/drawing/2014/main" id="{BBDFFE7A-BE17-48A7-9FF7-647D63BF157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20324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winkliges Dreieck 13">
              <a:extLst>
                <a:ext uri="{FF2B5EF4-FFF2-40B4-BE49-F238E27FC236}">
                  <a16:creationId xmlns:a16="http://schemas.microsoft.com/office/drawing/2014/main" id="{D5ADBAE5-A9D5-4505-816F-8CE088A648C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805922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049FF707-0CDD-4766-AAE5-1972C9C67054}"/>
                </a:ext>
              </a:extLst>
            </p:cNvPr>
            <p:cNvSpPr/>
            <p:nvPr/>
          </p:nvSpPr>
          <p:spPr>
            <a:xfrm>
              <a:off x="2304148" y="5121891"/>
              <a:ext cx="338400" cy="338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E1D42775-5B28-4815-9D30-B082040E0EB6}"/>
                </a:ext>
              </a:extLst>
            </p:cNvPr>
            <p:cNvSpPr/>
            <p:nvPr/>
          </p:nvSpPr>
          <p:spPr>
            <a:xfrm>
              <a:off x="1403675" y="5991998"/>
              <a:ext cx="338400" cy="338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EBDA0D9C-D1B0-4C7E-8CDE-9F85E4FCD4AD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75" y="3219411"/>
            <a:ext cx="8810625" cy="2015936"/>
          </a:xfrm>
        </p:spPr>
        <p:txBody>
          <a:bodyPr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Unternehmens-</a:t>
            </a:r>
          </a:p>
          <a:p>
            <a:pPr lvl="0"/>
            <a:r>
              <a:rPr lang="de-DE" err="1"/>
              <a:t>präsentation</a:t>
            </a:r>
            <a:endParaRPr lang="de-DE"/>
          </a:p>
        </p:txBody>
      </p:sp>
      <p:sp>
        <p:nvSpPr>
          <p:cNvPr id="19" name="Textplatzhalter 23">
            <a:extLst>
              <a:ext uri="{FF2B5EF4-FFF2-40B4-BE49-F238E27FC236}">
                <a16:creationId xmlns:a16="http://schemas.microsoft.com/office/drawing/2014/main" id="{B6DF3A2C-5038-4497-9D10-549981BF6A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73" y="5315459"/>
            <a:ext cx="7467601" cy="338554"/>
          </a:xfrm>
        </p:spPr>
        <p:txBody>
          <a:bodyPr wrap="square" lIns="216000" rIns="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Maximilian Mustermann | TT.MM.JJJJ</a:t>
            </a:r>
          </a:p>
        </p:txBody>
      </p:sp>
    </p:spTree>
    <p:extLst>
      <p:ext uri="{BB962C8B-B14F-4D97-AF65-F5344CB8AC3E}">
        <p14:creationId xmlns:p14="http://schemas.microsoft.com/office/powerpoint/2010/main" val="38890723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42857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500" fill="hold"/>
                                        <p:tgtEl>
                                          <p:spTgt spid="5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ub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>
            <a:extLst>
              <a:ext uri="{FF2B5EF4-FFF2-40B4-BE49-F238E27FC236}">
                <a16:creationId xmlns:a16="http://schemas.microsoft.com/office/drawing/2014/main" id="{AB9D1CE6-D2C6-4B58-A651-9BF0D569F3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0" y="146"/>
            <a:ext cx="12192000" cy="6857708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F9386BF-2302-4FBA-AD50-1FB1C4EEB83D}"/>
              </a:ext>
            </a:extLst>
          </p:cNvPr>
          <p:cNvGrpSpPr/>
          <p:nvPr userDrawn="1"/>
        </p:nvGrpSpPr>
        <p:grpSpPr>
          <a:xfrm>
            <a:off x="263526" y="4879338"/>
            <a:ext cx="2879723" cy="1727836"/>
            <a:chOff x="263526" y="3950374"/>
            <a:chExt cx="4427996" cy="2656800"/>
          </a:xfrm>
        </p:grpSpPr>
        <p:sp>
          <p:nvSpPr>
            <p:cNvPr id="7" name="Rechtwinkliges Dreieck 6">
              <a:extLst>
                <a:ext uri="{FF2B5EF4-FFF2-40B4-BE49-F238E27FC236}">
                  <a16:creationId xmlns:a16="http://schemas.microsoft.com/office/drawing/2014/main" id="{816EEC3F-406E-4CBA-A0EF-91750062B84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39503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winkliges Dreieck 7">
              <a:extLst>
                <a:ext uri="{FF2B5EF4-FFF2-40B4-BE49-F238E27FC236}">
                  <a16:creationId xmlns:a16="http://schemas.microsoft.com/office/drawing/2014/main" id="{468992AD-9759-4F23-8AE0-9E1C0DE7C43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winkliges Dreieck 8">
              <a:extLst>
                <a:ext uri="{FF2B5EF4-FFF2-40B4-BE49-F238E27FC236}">
                  <a16:creationId xmlns:a16="http://schemas.microsoft.com/office/drawing/2014/main" id="{40BD2A8A-492E-4614-9495-3D1DA8FF58B0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57215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winkliges Dreieck 9">
              <a:extLst>
                <a:ext uri="{FF2B5EF4-FFF2-40B4-BE49-F238E27FC236}">
                  <a16:creationId xmlns:a16="http://schemas.microsoft.com/office/drawing/2014/main" id="{AFD8B9C7-838B-4D42-B65D-4A470664818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149126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winkliges Dreieck 10">
              <a:extLst>
                <a:ext uri="{FF2B5EF4-FFF2-40B4-BE49-F238E27FC236}">
                  <a16:creationId xmlns:a16="http://schemas.microsoft.com/office/drawing/2014/main" id="{99D0D327-74B0-4790-9E07-C530E4194DD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20325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winkliges Dreieck 11">
              <a:extLst>
                <a:ext uri="{FF2B5EF4-FFF2-40B4-BE49-F238E27FC236}">
                  <a16:creationId xmlns:a16="http://schemas.microsoft.com/office/drawing/2014/main" id="{8701F087-063E-49A5-BB99-1731A9FB163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034724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winkliges Dreieck 12">
              <a:extLst>
                <a:ext uri="{FF2B5EF4-FFF2-40B4-BE49-F238E27FC236}">
                  <a16:creationId xmlns:a16="http://schemas.microsoft.com/office/drawing/2014/main" id="{BBDFFE7A-BE17-48A7-9FF7-647D63BF157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20324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winkliges Dreieck 13">
              <a:extLst>
                <a:ext uri="{FF2B5EF4-FFF2-40B4-BE49-F238E27FC236}">
                  <a16:creationId xmlns:a16="http://schemas.microsoft.com/office/drawing/2014/main" id="{D5ADBAE5-A9D5-4505-816F-8CE088A648C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805922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049FF707-0CDD-4766-AAE5-1972C9C67054}"/>
                </a:ext>
              </a:extLst>
            </p:cNvPr>
            <p:cNvSpPr/>
            <p:nvPr/>
          </p:nvSpPr>
          <p:spPr>
            <a:xfrm>
              <a:off x="2304148" y="5121891"/>
              <a:ext cx="338400" cy="338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E1D42775-5B28-4815-9D30-B082040E0EB6}"/>
                </a:ext>
              </a:extLst>
            </p:cNvPr>
            <p:cNvSpPr/>
            <p:nvPr/>
          </p:nvSpPr>
          <p:spPr>
            <a:xfrm>
              <a:off x="1403675" y="5991998"/>
              <a:ext cx="338400" cy="338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EBDA0D9C-D1B0-4C7E-8CDE-9F85E4FCD4A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75" y="3219411"/>
            <a:ext cx="8810625" cy="2015936"/>
          </a:xfrm>
        </p:spPr>
        <p:txBody>
          <a:bodyPr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Unternehmens-</a:t>
            </a:r>
          </a:p>
          <a:p>
            <a:pPr lvl="0"/>
            <a:r>
              <a:rPr lang="de-DE" err="1"/>
              <a:t>präsentation</a:t>
            </a:r>
            <a:endParaRPr lang="de-DE"/>
          </a:p>
        </p:txBody>
      </p:sp>
      <p:sp>
        <p:nvSpPr>
          <p:cNvPr id="21" name="Textplatzhalter 23">
            <a:extLst>
              <a:ext uri="{FF2B5EF4-FFF2-40B4-BE49-F238E27FC236}">
                <a16:creationId xmlns:a16="http://schemas.microsoft.com/office/drawing/2014/main" id="{357E31B4-FF69-40C0-AEB5-5DF6F86F89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73" y="5315459"/>
            <a:ext cx="7467601" cy="338554"/>
          </a:xfrm>
        </p:spPr>
        <p:txBody>
          <a:bodyPr wrap="square" lIns="216000" rIns="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Maximilian Mustermann | TT.MM.JJJJ</a:t>
            </a:r>
          </a:p>
        </p:txBody>
      </p:sp>
    </p:spTree>
    <p:extLst>
      <p:ext uri="{BB962C8B-B14F-4D97-AF65-F5344CB8AC3E}">
        <p14:creationId xmlns:p14="http://schemas.microsoft.com/office/powerpoint/2010/main" val="25125974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42857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3000" y="10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6B9A5F69-B7E7-445B-B66F-713F4C78AA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F9386BF-2302-4FBA-AD50-1FB1C4EEB83D}"/>
              </a:ext>
            </a:extLst>
          </p:cNvPr>
          <p:cNvGrpSpPr/>
          <p:nvPr userDrawn="1"/>
        </p:nvGrpSpPr>
        <p:grpSpPr>
          <a:xfrm>
            <a:off x="263526" y="4879338"/>
            <a:ext cx="2879723" cy="1727836"/>
            <a:chOff x="263526" y="3950374"/>
            <a:chExt cx="4427996" cy="2656800"/>
          </a:xfrm>
        </p:grpSpPr>
        <p:sp>
          <p:nvSpPr>
            <p:cNvPr id="7" name="Rechtwinkliges Dreieck 6">
              <a:extLst>
                <a:ext uri="{FF2B5EF4-FFF2-40B4-BE49-F238E27FC236}">
                  <a16:creationId xmlns:a16="http://schemas.microsoft.com/office/drawing/2014/main" id="{816EEC3F-406E-4CBA-A0EF-91750062B84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39503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winkliges Dreieck 7">
              <a:extLst>
                <a:ext uri="{FF2B5EF4-FFF2-40B4-BE49-F238E27FC236}">
                  <a16:creationId xmlns:a16="http://schemas.microsoft.com/office/drawing/2014/main" id="{468992AD-9759-4F23-8AE0-9E1C0DE7C43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winkliges Dreieck 8">
              <a:extLst>
                <a:ext uri="{FF2B5EF4-FFF2-40B4-BE49-F238E27FC236}">
                  <a16:creationId xmlns:a16="http://schemas.microsoft.com/office/drawing/2014/main" id="{40BD2A8A-492E-4614-9495-3D1DA8FF58B0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57215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winkliges Dreieck 9">
              <a:extLst>
                <a:ext uri="{FF2B5EF4-FFF2-40B4-BE49-F238E27FC236}">
                  <a16:creationId xmlns:a16="http://schemas.microsoft.com/office/drawing/2014/main" id="{AFD8B9C7-838B-4D42-B65D-4A470664818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149126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winkliges Dreieck 10">
              <a:extLst>
                <a:ext uri="{FF2B5EF4-FFF2-40B4-BE49-F238E27FC236}">
                  <a16:creationId xmlns:a16="http://schemas.microsoft.com/office/drawing/2014/main" id="{99D0D327-74B0-4790-9E07-C530E4194DD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20325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winkliges Dreieck 11">
              <a:extLst>
                <a:ext uri="{FF2B5EF4-FFF2-40B4-BE49-F238E27FC236}">
                  <a16:creationId xmlns:a16="http://schemas.microsoft.com/office/drawing/2014/main" id="{8701F087-063E-49A5-BB99-1731A9FB163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034724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winkliges Dreieck 12">
              <a:extLst>
                <a:ext uri="{FF2B5EF4-FFF2-40B4-BE49-F238E27FC236}">
                  <a16:creationId xmlns:a16="http://schemas.microsoft.com/office/drawing/2014/main" id="{BBDFFE7A-BE17-48A7-9FF7-647D63BF157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20324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winkliges Dreieck 13">
              <a:extLst>
                <a:ext uri="{FF2B5EF4-FFF2-40B4-BE49-F238E27FC236}">
                  <a16:creationId xmlns:a16="http://schemas.microsoft.com/office/drawing/2014/main" id="{D5ADBAE5-A9D5-4505-816F-8CE088A648C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805922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049FF707-0CDD-4766-AAE5-1972C9C67054}"/>
                </a:ext>
              </a:extLst>
            </p:cNvPr>
            <p:cNvSpPr/>
            <p:nvPr/>
          </p:nvSpPr>
          <p:spPr>
            <a:xfrm>
              <a:off x="2304148" y="5121891"/>
              <a:ext cx="338400" cy="338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E1D42775-5B28-4815-9D30-B082040E0EB6}"/>
                </a:ext>
              </a:extLst>
            </p:cNvPr>
            <p:cNvSpPr/>
            <p:nvPr/>
          </p:nvSpPr>
          <p:spPr>
            <a:xfrm>
              <a:off x="1403675" y="5991998"/>
              <a:ext cx="338400" cy="338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EBDA0D9C-D1B0-4C7E-8CDE-9F85E4FCD4AD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75" y="3219411"/>
            <a:ext cx="8810625" cy="2015936"/>
          </a:xfrm>
        </p:spPr>
        <p:txBody>
          <a:bodyPr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Unternehmens-</a:t>
            </a:r>
          </a:p>
          <a:p>
            <a:pPr lvl="0"/>
            <a:r>
              <a:rPr lang="de-DE" err="1"/>
              <a:t>präsentation</a:t>
            </a:r>
            <a:endParaRPr lang="de-DE"/>
          </a:p>
        </p:txBody>
      </p:sp>
      <p:sp>
        <p:nvSpPr>
          <p:cNvPr id="20" name="Textplatzhalter 23">
            <a:extLst>
              <a:ext uri="{FF2B5EF4-FFF2-40B4-BE49-F238E27FC236}">
                <a16:creationId xmlns:a16="http://schemas.microsoft.com/office/drawing/2014/main" id="{180A8D7F-FBCA-4947-AB3C-9451051A9E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73" y="5315459"/>
            <a:ext cx="7467601" cy="338554"/>
          </a:xfrm>
        </p:spPr>
        <p:txBody>
          <a:bodyPr wrap="square" lIns="216000" rIns="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Maximilian Mustermann | TT.MM.JJJJ</a:t>
            </a:r>
          </a:p>
        </p:txBody>
      </p:sp>
    </p:spTree>
    <p:extLst>
      <p:ext uri="{BB962C8B-B14F-4D97-AF65-F5344CB8AC3E}">
        <p14:creationId xmlns:p14="http://schemas.microsoft.com/office/powerpoint/2010/main" val="14493553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42857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Wa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>
            <a:extLst>
              <a:ext uri="{FF2B5EF4-FFF2-40B4-BE49-F238E27FC236}">
                <a16:creationId xmlns:a16="http://schemas.microsoft.com/office/drawing/2014/main" id="{D9905416-8583-4708-A594-DF46453382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F9386BF-2302-4FBA-AD50-1FB1C4EEB83D}"/>
              </a:ext>
            </a:extLst>
          </p:cNvPr>
          <p:cNvGrpSpPr/>
          <p:nvPr userDrawn="1"/>
        </p:nvGrpSpPr>
        <p:grpSpPr>
          <a:xfrm>
            <a:off x="263526" y="4879338"/>
            <a:ext cx="2879723" cy="1727836"/>
            <a:chOff x="263526" y="3950374"/>
            <a:chExt cx="4427996" cy="2656800"/>
          </a:xfrm>
        </p:grpSpPr>
        <p:sp>
          <p:nvSpPr>
            <p:cNvPr id="7" name="Rechtwinkliges Dreieck 6">
              <a:extLst>
                <a:ext uri="{FF2B5EF4-FFF2-40B4-BE49-F238E27FC236}">
                  <a16:creationId xmlns:a16="http://schemas.microsoft.com/office/drawing/2014/main" id="{816EEC3F-406E-4CBA-A0EF-91750062B84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39503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winkliges Dreieck 7">
              <a:extLst>
                <a:ext uri="{FF2B5EF4-FFF2-40B4-BE49-F238E27FC236}">
                  <a16:creationId xmlns:a16="http://schemas.microsoft.com/office/drawing/2014/main" id="{468992AD-9759-4F23-8AE0-9E1C0DE7C43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winkliges Dreieck 8">
              <a:extLst>
                <a:ext uri="{FF2B5EF4-FFF2-40B4-BE49-F238E27FC236}">
                  <a16:creationId xmlns:a16="http://schemas.microsoft.com/office/drawing/2014/main" id="{40BD2A8A-492E-4614-9495-3D1DA8FF58B0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57215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winkliges Dreieck 9">
              <a:extLst>
                <a:ext uri="{FF2B5EF4-FFF2-40B4-BE49-F238E27FC236}">
                  <a16:creationId xmlns:a16="http://schemas.microsoft.com/office/drawing/2014/main" id="{AFD8B9C7-838B-4D42-B65D-4A470664818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149126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winkliges Dreieck 10">
              <a:extLst>
                <a:ext uri="{FF2B5EF4-FFF2-40B4-BE49-F238E27FC236}">
                  <a16:creationId xmlns:a16="http://schemas.microsoft.com/office/drawing/2014/main" id="{99D0D327-74B0-4790-9E07-C530E4194DD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20325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winkliges Dreieck 11">
              <a:extLst>
                <a:ext uri="{FF2B5EF4-FFF2-40B4-BE49-F238E27FC236}">
                  <a16:creationId xmlns:a16="http://schemas.microsoft.com/office/drawing/2014/main" id="{8701F087-063E-49A5-BB99-1731A9FB163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034724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winkliges Dreieck 12">
              <a:extLst>
                <a:ext uri="{FF2B5EF4-FFF2-40B4-BE49-F238E27FC236}">
                  <a16:creationId xmlns:a16="http://schemas.microsoft.com/office/drawing/2014/main" id="{BBDFFE7A-BE17-48A7-9FF7-647D63BF157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20324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winkliges Dreieck 13">
              <a:extLst>
                <a:ext uri="{FF2B5EF4-FFF2-40B4-BE49-F238E27FC236}">
                  <a16:creationId xmlns:a16="http://schemas.microsoft.com/office/drawing/2014/main" id="{D5ADBAE5-A9D5-4505-816F-8CE088A648C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805922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049FF707-0CDD-4766-AAE5-1972C9C67054}"/>
                </a:ext>
              </a:extLst>
            </p:cNvPr>
            <p:cNvSpPr/>
            <p:nvPr/>
          </p:nvSpPr>
          <p:spPr>
            <a:xfrm>
              <a:off x="2304148" y="5121891"/>
              <a:ext cx="338400" cy="338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E1D42775-5B28-4815-9D30-B082040E0EB6}"/>
                </a:ext>
              </a:extLst>
            </p:cNvPr>
            <p:cNvSpPr/>
            <p:nvPr/>
          </p:nvSpPr>
          <p:spPr>
            <a:xfrm>
              <a:off x="1403675" y="5991998"/>
              <a:ext cx="338400" cy="338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EBDA0D9C-D1B0-4C7E-8CDE-9F85E4FCD4AD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75" y="3219411"/>
            <a:ext cx="8810625" cy="2015936"/>
          </a:xfrm>
        </p:spPr>
        <p:txBody>
          <a:bodyPr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Unternehmens-</a:t>
            </a:r>
          </a:p>
          <a:p>
            <a:pPr lvl="0"/>
            <a:r>
              <a:rPr lang="de-DE" err="1"/>
              <a:t>präsentation</a:t>
            </a:r>
            <a:endParaRPr lang="de-DE"/>
          </a:p>
        </p:txBody>
      </p:sp>
      <p:sp>
        <p:nvSpPr>
          <p:cNvPr id="21" name="Textplatzhalter 23">
            <a:extLst>
              <a:ext uri="{FF2B5EF4-FFF2-40B4-BE49-F238E27FC236}">
                <a16:creationId xmlns:a16="http://schemas.microsoft.com/office/drawing/2014/main" id="{2D77D76B-5119-464A-A30F-F907C58C09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73" y="5315459"/>
            <a:ext cx="7467601" cy="338554"/>
          </a:xfrm>
        </p:spPr>
        <p:txBody>
          <a:bodyPr wrap="square" lIns="216000" rIns="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Maximilian Mustermann | TT.MM.JJJJ</a:t>
            </a:r>
          </a:p>
        </p:txBody>
      </p:sp>
    </p:spTree>
    <p:extLst>
      <p:ext uri="{BB962C8B-B14F-4D97-AF65-F5344CB8AC3E}">
        <p14:creationId xmlns:p14="http://schemas.microsoft.com/office/powerpoint/2010/main" val="38997550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500" fill="hold"/>
                                        <p:tgtEl>
                                          <p:spTgt spid="20"/>
                                        </p:tgtEl>
                                      </p:cBhvr>
                                      <p:by x="107000" y="10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esprechungsra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 descr="Ein Bild, das Text, drinnen, Person enthält.&#10;&#10;Automatisch generierte Beschreibung">
            <a:extLst>
              <a:ext uri="{FF2B5EF4-FFF2-40B4-BE49-F238E27FC236}">
                <a16:creationId xmlns:a16="http://schemas.microsoft.com/office/drawing/2014/main" id="{E9C101A0-5B62-43C3-93FC-6DF4578D5A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F9386BF-2302-4FBA-AD50-1FB1C4EEB83D}"/>
              </a:ext>
            </a:extLst>
          </p:cNvPr>
          <p:cNvGrpSpPr/>
          <p:nvPr userDrawn="1"/>
        </p:nvGrpSpPr>
        <p:grpSpPr>
          <a:xfrm>
            <a:off x="263526" y="4879338"/>
            <a:ext cx="2879723" cy="1727836"/>
            <a:chOff x="263526" y="3950374"/>
            <a:chExt cx="4427996" cy="2656800"/>
          </a:xfrm>
          <a:solidFill>
            <a:schemeClr val="accent1"/>
          </a:solidFill>
        </p:grpSpPr>
        <p:sp>
          <p:nvSpPr>
            <p:cNvPr id="7" name="Rechtwinkliges Dreieck 6">
              <a:extLst>
                <a:ext uri="{FF2B5EF4-FFF2-40B4-BE49-F238E27FC236}">
                  <a16:creationId xmlns:a16="http://schemas.microsoft.com/office/drawing/2014/main" id="{816EEC3F-406E-4CBA-A0EF-91750062B84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3950374"/>
              <a:ext cx="885600" cy="8856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winkliges Dreieck 7">
              <a:extLst>
                <a:ext uri="{FF2B5EF4-FFF2-40B4-BE49-F238E27FC236}">
                  <a16:creationId xmlns:a16="http://schemas.microsoft.com/office/drawing/2014/main" id="{468992AD-9759-4F23-8AE0-9E1C0DE7C43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4835974"/>
              <a:ext cx="885600" cy="8856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winkliges Dreieck 8">
              <a:extLst>
                <a:ext uri="{FF2B5EF4-FFF2-40B4-BE49-F238E27FC236}">
                  <a16:creationId xmlns:a16="http://schemas.microsoft.com/office/drawing/2014/main" id="{40BD2A8A-492E-4614-9495-3D1DA8FF58B0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5721574"/>
              <a:ext cx="885600" cy="8856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winkliges Dreieck 9">
              <a:extLst>
                <a:ext uri="{FF2B5EF4-FFF2-40B4-BE49-F238E27FC236}">
                  <a16:creationId xmlns:a16="http://schemas.microsoft.com/office/drawing/2014/main" id="{AFD8B9C7-838B-4D42-B65D-4A470664818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149126" y="4835974"/>
              <a:ext cx="885600" cy="8856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winkliges Dreieck 10">
              <a:extLst>
                <a:ext uri="{FF2B5EF4-FFF2-40B4-BE49-F238E27FC236}">
                  <a16:creationId xmlns:a16="http://schemas.microsoft.com/office/drawing/2014/main" id="{99D0D327-74B0-4790-9E07-C530E4194DD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20325" y="4835974"/>
              <a:ext cx="885600" cy="8856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winkliges Dreieck 11">
              <a:extLst>
                <a:ext uri="{FF2B5EF4-FFF2-40B4-BE49-F238E27FC236}">
                  <a16:creationId xmlns:a16="http://schemas.microsoft.com/office/drawing/2014/main" id="{8701F087-063E-49A5-BB99-1731A9FB1633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034724" y="5721573"/>
              <a:ext cx="885600" cy="8856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winkliges Dreieck 12">
              <a:extLst>
                <a:ext uri="{FF2B5EF4-FFF2-40B4-BE49-F238E27FC236}">
                  <a16:creationId xmlns:a16="http://schemas.microsoft.com/office/drawing/2014/main" id="{BBDFFE7A-BE17-48A7-9FF7-647D63BF157E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20324" y="5721573"/>
              <a:ext cx="885600" cy="8856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winkliges Dreieck 13">
              <a:extLst>
                <a:ext uri="{FF2B5EF4-FFF2-40B4-BE49-F238E27FC236}">
                  <a16:creationId xmlns:a16="http://schemas.microsoft.com/office/drawing/2014/main" id="{D5ADBAE5-A9D5-4505-816F-8CE088A648CB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805922" y="5721573"/>
              <a:ext cx="885600" cy="8856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049FF707-0CDD-4766-AAE5-1972C9C67054}"/>
                </a:ext>
              </a:extLst>
            </p:cNvPr>
            <p:cNvSpPr/>
            <p:nvPr/>
          </p:nvSpPr>
          <p:spPr>
            <a:xfrm>
              <a:off x="2304148" y="5121891"/>
              <a:ext cx="338400" cy="338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E1D42775-5B28-4815-9D30-B082040E0EB6}"/>
                </a:ext>
              </a:extLst>
            </p:cNvPr>
            <p:cNvSpPr/>
            <p:nvPr/>
          </p:nvSpPr>
          <p:spPr>
            <a:xfrm>
              <a:off x="1403675" y="5991998"/>
              <a:ext cx="338400" cy="3384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CAF373CA-C470-4754-8407-1F658148F7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9469" y="260349"/>
            <a:ext cx="936000" cy="936000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6F6544E9-23BE-4476-A081-04A0AE7BB6F0}"/>
              </a:ext>
            </a:extLst>
          </p:cNvPr>
          <p:cNvSpPr/>
          <p:nvPr userDrawn="1"/>
        </p:nvSpPr>
        <p:spPr>
          <a:xfrm>
            <a:off x="6667500" y="3357110"/>
            <a:ext cx="5362744" cy="914400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C17E06D-B5B6-41B7-8DDD-576C075285A3}"/>
              </a:ext>
            </a:extLst>
          </p:cNvPr>
          <p:cNvSpPr/>
          <p:nvPr userDrawn="1"/>
        </p:nvSpPr>
        <p:spPr>
          <a:xfrm>
            <a:off x="7658100" y="4345665"/>
            <a:ext cx="4372144" cy="914400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75" y="3296355"/>
            <a:ext cx="8810625" cy="1938992"/>
          </a:xfrm>
        </p:spPr>
        <p:txBody>
          <a:bodyPr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Unternehmens-präsentation</a:t>
            </a:r>
          </a:p>
        </p:txBody>
      </p:sp>
      <p:sp>
        <p:nvSpPr>
          <p:cNvPr id="20" name="Textplatzhalter 23">
            <a:extLst>
              <a:ext uri="{FF2B5EF4-FFF2-40B4-BE49-F238E27FC236}">
                <a16:creationId xmlns:a16="http://schemas.microsoft.com/office/drawing/2014/main" id="{2A51C756-D56B-4228-9EB2-BBF4D2B2D5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73" y="5315459"/>
            <a:ext cx="7467601" cy="338554"/>
          </a:xfrm>
        </p:spPr>
        <p:txBody>
          <a:bodyPr wrap="square" lIns="216000" rIns="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Maximilian Mustermann | TT.MM.JJJJ</a:t>
            </a:r>
          </a:p>
        </p:txBody>
      </p:sp>
    </p:spTree>
    <p:extLst>
      <p:ext uri="{BB962C8B-B14F-4D97-AF65-F5344CB8AC3E}">
        <p14:creationId xmlns:p14="http://schemas.microsoft.com/office/powerpoint/2010/main" val="812191162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Zusammenarbeit dialogic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Fenster enthält.&#10;&#10;Automatisch generierte Beschreibung">
            <a:extLst>
              <a:ext uri="{FF2B5EF4-FFF2-40B4-BE49-F238E27FC236}">
                <a16:creationId xmlns:a16="http://schemas.microsoft.com/office/drawing/2014/main" id="{3E2D27E6-EED8-4B29-A835-20C9D5C06D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073900"/>
          </a:xfrm>
          <a:prstGeom prst="rect">
            <a:avLst/>
          </a:prstGeom>
        </p:spPr>
      </p:pic>
      <p:sp>
        <p:nvSpPr>
          <p:cNvPr id="20" name="Textplatzhalter 23">
            <a:extLst>
              <a:ext uri="{FF2B5EF4-FFF2-40B4-BE49-F238E27FC236}">
                <a16:creationId xmlns:a16="http://schemas.microsoft.com/office/drawing/2014/main" id="{2A51C756-D56B-4228-9EB2-BBF4D2B2D5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73" y="5315459"/>
            <a:ext cx="7467601" cy="338554"/>
          </a:xfrm>
        </p:spPr>
        <p:txBody>
          <a:bodyPr wrap="square" lIns="216000" rIns="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Maximilian Mustermann | TT.MM.JJJJ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11EFC970-72CB-4DF9-BC2F-D19053F0EFFF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922E834E-67E0-4A61-8885-C386AEEA9711}"/>
              </a:ext>
            </a:extLst>
          </p:cNvPr>
          <p:cNvGrpSpPr/>
          <p:nvPr userDrawn="1"/>
        </p:nvGrpSpPr>
        <p:grpSpPr>
          <a:xfrm>
            <a:off x="263526" y="4879338"/>
            <a:ext cx="2879723" cy="1727836"/>
            <a:chOff x="263526" y="3950374"/>
            <a:chExt cx="4427996" cy="2656800"/>
          </a:xfrm>
        </p:grpSpPr>
        <p:sp>
          <p:nvSpPr>
            <p:cNvPr id="23" name="Rechtwinkliges Dreieck 22">
              <a:extLst>
                <a:ext uri="{FF2B5EF4-FFF2-40B4-BE49-F238E27FC236}">
                  <a16:creationId xmlns:a16="http://schemas.microsoft.com/office/drawing/2014/main" id="{EE6C07FA-8E4A-4AF7-B21D-812F2C6BBAD5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39503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Rechtwinkliges Dreieck 23">
              <a:extLst>
                <a:ext uri="{FF2B5EF4-FFF2-40B4-BE49-F238E27FC236}">
                  <a16:creationId xmlns:a16="http://schemas.microsoft.com/office/drawing/2014/main" id="{7007A2B3-4576-41B5-A2C9-3F12E1A89B3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winkliges Dreieck 24">
              <a:extLst>
                <a:ext uri="{FF2B5EF4-FFF2-40B4-BE49-F238E27FC236}">
                  <a16:creationId xmlns:a16="http://schemas.microsoft.com/office/drawing/2014/main" id="{C941A013-81B8-4161-B85A-9F334C84C95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3526" y="57215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Rechtwinkliges Dreieck 25">
              <a:extLst>
                <a:ext uri="{FF2B5EF4-FFF2-40B4-BE49-F238E27FC236}">
                  <a16:creationId xmlns:a16="http://schemas.microsoft.com/office/drawing/2014/main" id="{D648AF0F-FBC7-41E4-B89F-F5FA1B366846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149126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Rechtwinkliges Dreieck 26">
              <a:extLst>
                <a:ext uri="{FF2B5EF4-FFF2-40B4-BE49-F238E27FC236}">
                  <a16:creationId xmlns:a16="http://schemas.microsoft.com/office/drawing/2014/main" id="{EC12F1A8-2A8E-4C54-A3B0-E6D8D23C1E1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20325" y="4835974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Rechtwinkliges Dreieck 27">
              <a:extLst>
                <a:ext uri="{FF2B5EF4-FFF2-40B4-BE49-F238E27FC236}">
                  <a16:creationId xmlns:a16="http://schemas.microsoft.com/office/drawing/2014/main" id="{AE12E6FF-C91C-4C83-BF3D-550CC12D979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034724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htwinkliges Dreieck 28">
              <a:extLst>
                <a:ext uri="{FF2B5EF4-FFF2-40B4-BE49-F238E27FC236}">
                  <a16:creationId xmlns:a16="http://schemas.microsoft.com/office/drawing/2014/main" id="{3FEFFD2B-A017-4A8B-A533-DBBF57BAA13F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920324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Rechtwinkliges Dreieck 29">
              <a:extLst>
                <a:ext uri="{FF2B5EF4-FFF2-40B4-BE49-F238E27FC236}">
                  <a16:creationId xmlns:a16="http://schemas.microsoft.com/office/drawing/2014/main" id="{C1B94A7C-ACF9-4BE6-83AF-A76967298556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3805922" y="5721573"/>
              <a:ext cx="885600" cy="8856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6EBE1EA8-CA6B-4D7B-9684-9FD2448EFE68}"/>
                </a:ext>
              </a:extLst>
            </p:cNvPr>
            <p:cNvSpPr/>
            <p:nvPr/>
          </p:nvSpPr>
          <p:spPr>
            <a:xfrm>
              <a:off x="2304148" y="5121891"/>
              <a:ext cx="338400" cy="338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53649CDB-6D33-4F04-A99D-3748DEC569F8}"/>
                </a:ext>
              </a:extLst>
            </p:cNvPr>
            <p:cNvSpPr/>
            <p:nvPr/>
          </p:nvSpPr>
          <p:spPr>
            <a:xfrm>
              <a:off x="1403675" y="5991998"/>
              <a:ext cx="338400" cy="338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7" name="Rechteck 16">
            <a:extLst>
              <a:ext uri="{FF2B5EF4-FFF2-40B4-BE49-F238E27FC236}">
                <a16:creationId xmlns:a16="http://schemas.microsoft.com/office/drawing/2014/main" id="{A699A756-BD3B-4A0D-B71B-986782554F50}"/>
              </a:ext>
            </a:extLst>
          </p:cNvPr>
          <p:cNvSpPr/>
          <p:nvPr userDrawn="1"/>
        </p:nvSpPr>
        <p:spPr>
          <a:xfrm>
            <a:off x="4808305" y="3357110"/>
            <a:ext cx="7221939" cy="914400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7F9015C-E58C-4882-B3C9-BCFBC336F4D1}"/>
              </a:ext>
            </a:extLst>
          </p:cNvPr>
          <p:cNvSpPr/>
          <p:nvPr userDrawn="1"/>
        </p:nvSpPr>
        <p:spPr>
          <a:xfrm>
            <a:off x="7658100" y="4345665"/>
            <a:ext cx="4372144" cy="914400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33" name="Textplatzhalter 23">
            <a:extLst>
              <a:ext uri="{FF2B5EF4-FFF2-40B4-BE49-F238E27FC236}">
                <a16:creationId xmlns:a16="http://schemas.microsoft.com/office/drawing/2014/main" id="{62F9114B-50B1-4B54-994A-5EC4CB7AF3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75" y="3296355"/>
            <a:ext cx="8810625" cy="1938992"/>
          </a:xfrm>
        </p:spPr>
        <p:txBody>
          <a:bodyPr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Unternehmens-präsentation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AFC5466-909D-3CA3-3055-526B2B0AF8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9627" y="81624"/>
            <a:ext cx="13462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42701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viol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B684DA9-B373-43A2-8100-37A8602E73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0146325-4717-4B97-BFAB-15B3E60A35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75" y="3296355"/>
            <a:ext cx="8810625" cy="1938992"/>
          </a:xfrm>
        </p:spPr>
        <p:txBody>
          <a:bodyPr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Hier steht der Titel der Präsentation</a:t>
            </a:r>
          </a:p>
        </p:txBody>
      </p:sp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46F2D79A-B098-4BCB-B4F8-C97831AE17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73" y="5315459"/>
            <a:ext cx="7467601" cy="338554"/>
          </a:xfrm>
        </p:spPr>
        <p:txBody>
          <a:bodyPr wrap="square" lIns="216000" rIns="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Maximilian Mustermann | TT.MM.JJJJ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A0C0A71-B35E-411F-B6B5-47FF57CDA0F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6654" y="260349"/>
            <a:ext cx="936625" cy="93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7338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B684DA9-B373-43A2-8100-37A8602E73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0146325-4717-4B97-BFAB-15B3E60A35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75" y="3296355"/>
            <a:ext cx="8810625" cy="1938992"/>
          </a:xfrm>
        </p:spPr>
        <p:txBody>
          <a:bodyPr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Hier steht der Titel der Präsentation</a:t>
            </a:r>
          </a:p>
        </p:txBody>
      </p:sp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E01FD08F-B41C-49AA-979A-1B0633BD22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73" y="5315459"/>
            <a:ext cx="7467601" cy="338554"/>
          </a:xfrm>
        </p:spPr>
        <p:txBody>
          <a:bodyPr wrap="square" lIns="216000" rIns="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Maximilian Mustermann | TT.MM.JJJJ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AC4B6D4-7AC5-4417-B767-8D8A8346B26F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6654" y="260349"/>
            <a:ext cx="936625" cy="93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15874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B684DA9-B373-43A2-8100-37A8602E73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0146325-4717-4B97-BFAB-15B3E60A35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75" y="3296355"/>
            <a:ext cx="8810625" cy="1938992"/>
          </a:xfrm>
        </p:spPr>
        <p:txBody>
          <a:bodyPr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Hier steht der Titel der Präsentation</a:t>
            </a:r>
          </a:p>
        </p:txBody>
      </p:sp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A8180ADA-6D93-487E-B9BC-DCDA0E38BD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73" y="5315459"/>
            <a:ext cx="7467601" cy="338554"/>
          </a:xfrm>
        </p:spPr>
        <p:txBody>
          <a:bodyPr wrap="square" lIns="216000" rIns="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Maximilian Mustermann | TT.MM.JJJJ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AAB1BCF-8FDD-4820-B48D-00DBB1CC412B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6654" y="260349"/>
            <a:ext cx="936625" cy="93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95577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laven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B684DA9-B373-43A2-8100-37A8602E73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0146325-4717-4B97-BFAB-15B3E60A35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75" y="3296355"/>
            <a:ext cx="8810625" cy="1938992"/>
          </a:xfrm>
        </p:spPr>
        <p:txBody>
          <a:bodyPr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Hier steht der Titel der Präsentation</a:t>
            </a:r>
          </a:p>
        </p:txBody>
      </p:sp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B2724014-E377-4687-8B26-71CD701F3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73" y="5315459"/>
            <a:ext cx="7467601" cy="338554"/>
          </a:xfrm>
        </p:spPr>
        <p:txBody>
          <a:bodyPr wrap="square" lIns="216000" rIns="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Maximilian Mustermann | TT.MM.JJJJ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5251DFA-B41E-402B-93F8-D4CFDB954FE0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6654" y="260349"/>
            <a:ext cx="936625" cy="93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78611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B684DA9-B373-43A2-8100-37A8602E73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0146325-4717-4B97-BFAB-15B3E60A35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75" y="3296355"/>
            <a:ext cx="8810625" cy="1938992"/>
          </a:xfrm>
        </p:spPr>
        <p:txBody>
          <a:bodyPr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Hier steht der Titel der Präsentation</a:t>
            </a:r>
          </a:p>
        </p:txBody>
      </p:sp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5E607B2C-3756-4E2A-ABF9-3478AE74E4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73" y="5315459"/>
            <a:ext cx="7467601" cy="338554"/>
          </a:xfrm>
        </p:spPr>
        <p:txBody>
          <a:bodyPr wrap="square" lIns="216000" rIns="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Maximilian Mustermann | TT.MM.JJJJ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8356E28-0FE3-4DAA-8018-8201DA79A11F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6654" y="260349"/>
            <a:ext cx="936625" cy="93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06227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ro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B684DA9-B373-43A2-8100-37A8602E736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0146325-4717-4B97-BFAB-15B3E60A35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75" y="3296355"/>
            <a:ext cx="8810625" cy="1938992"/>
          </a:xfrm>
        </p:spPr>
        <p:txBody>
          <a:bodyPr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Hier steht der Titel der Präsentation</a:t>
            </a:r>
          </a:p>
        </p:txBody>
      </p:sp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5D22DB-1C0E-42E1-8B09-F2EE7BDA34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0873" y="5315459"/>
            <a:ext cx="7467601" cy="338554"/>
          </a:xfrm>
        </p:spPr>
        <p:txBody>
          <a:bodyPr wrap="square" lIns="216000" rIns="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/>
              <a:t>Maximilian Mustermann | TT.MM.JJJJ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86F3636-37C3-4736-AB31-450610A03808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6654" y="260349"/>
            <a:ext cx="936625" cy="93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6631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viol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B1E3A62-8DD9-4FF4-AA42-E9BC0435CC7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72100" y="3296355"/>
            <a:ext cx="6819900" cy="1938992"/>
          </a:xfrm>
        </p:spPr>
        <p:txBody>
          <a:bodyPr wrap="square"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Hier steht der Titel des Kapitels</a:t>
            </a:r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3ED0D9C5-B0FE-4A9D-A5C9-E742A9451984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ED65BF1-A8C3-48B6-A1C5-9911C663FA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654188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B1E3A62-8DD9-4FF4-AA42-E9BC0435CC7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72100" y="3296355"/>
            <a:ext cx="6819900" cy="1938992"/>
          </a:xfrm>
        </p:spPr>
        <p:txBody>
          <a:bodyPr wrap="square"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Hier steht der Titel des Kapitels</a:t>
            </a:r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3ED0D9C5-B0FE-4A9D-A5C9-E742A9451984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ED65BF1-A8C3-48B6-A1C5-9911C663FA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88592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B1E3A62-8DD9-4FF4-AA42-E9BC0435CC7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platzhalter 23">
            <a:extLst>
              <a:ext uri="{FF2B5EF4-FFF2-40B4-BE49-F238E27FC236}">
                <a16:creationId xmlns:a16="http://schemas.microsoft.com/office/drawing/2014/main" id="{90EB9532-943E-4798-93EF-143300D078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72100" y="3296355"/>
            <a:ext cx="6819900" cy="1938992"/>
          </a:xfrm>
        </p:spPr>
        <p:txBody>
          <a:bodyPr wrap="square"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6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Hier steht der Titel des Kapitels</a:t>
            </a:r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3ED0D9C5-B0FE-4A9D-A5C9-E742A9451984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ED65BF1-A8C3-48B6-A1C5-9911C663FA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41530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21575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Agenda</a:t>
            </a:r>
          </a:p>
        </p:txBody>
      </p:sp>
      <p:sp>
        <p:nvSpPr>
          <p:cNvPr id="13" name="Bildplatzhalter 40">
            <a:extLst>
              <a:ext uri="{FF2B5EF4-FFF2-40B4-BE49-F238E27FC236}">
                <a16:creationId xmlns:a16="http://schemas.microsoft.com/office/drawing/2014/main" id="{3AAD8711-4CEE-4A56-8875-3786A327C95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85099" y="0"/>
            <a:ext cx="4406901" cy="685800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(Rechte Maustaste – In den Hintergrund)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F830586-7DC0-4A39-853D-F646C03E7CE4}"/>
              </a:ext>
            </a:extLst>
          </p:cNvPr>
          <p:cNvCxnSpPr>
            <a:cxnSpLocks/>
          </p:cNvCxnSpPr>
          <p:nvPr userDrawn="1"/>
        </p:nvCxnSpPr>
        <p:spPr>
          <a:xfrm>
            <a:off x="7769225" y="-1"/>
            <a:ext cx="0" cy="6858001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25">
            <a:extLst>
              <a:ext uri="{FF2B5EF4-FFF2-40B4-BE49-F238E27FC236}">
                <a16:creationId xmlns:a16="http://schemas.microsoft.com/office/drawing/2014/main" id="{C8354A3C-BD29-40E2-A33A-F6C09EF50C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1823157"/>
            <a:ext cx="7521575" cy="1985415"/>
          </a:xfrm>
          <a:prstGeom prst="rect">
            <a:avLst/>
          </a:prstGeom>
        </p:spPr>
        <p:txBody>
          <a:bodyPr vert="horz" wrap="square" lIns="248400" tIns="45720" rIns="91440" bIns="45720" rtlCol="0">
            <a:spAutoFit/>
          </a:bodyPr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30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918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206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494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endParaRPr lang="de-DE"/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A86B08-38C1-4263-98A7-9A1ABC7AE3C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A39379-B3D9-4FA0-8637-45660CFF00EC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0F5A4A0-797B-49F6-B98A-B38AB3F1753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0343516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4F30DF-193C-4597-B357-DE15D436D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248400"/>
          <a:lstStyle>
            <a:lvl1pPr>
              <a:defRPr/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</a:t>
            </a:r>
            <a:br>
              <a:rPr lang="de-DE" sz="3600">
                <a:solidFill>
                  <a:schemeClr val="accent1"/>
                </a:solidFill>
              </a:rPr>
            </a:br>
            <a:r>
              <a:rPr lang="de-DE" sz="3600">
                <a:solidFill>
                  <a:schemeClr val="accent1"/>
                </a:solidFill>
              </a:rPr>
              <a:t>(MAX. ZWEI ZEILEN)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D1559D7-FC8C-45F7-BBDC-E57D793BE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Textplatzhalter 25">
            <a:extLst>
              <a:ext uri="{FF2B5EF4-FFF2-40B4-BE49-F238E27FC236}">
                <a16:creationId xmlns:a16="http://schemas.microsoft.com/office/drawing/2014/main" id="{3C41D73C-C454-47D9-82E9-10BB794BAA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8140" y="1458450"/>
            <a:ext cx="10842172" cy="1985415"/>
          </a:xfrm>
          <a:prstGeom prst="rect">
            <a:avLst/>
          </a:prstGeom>
        </p:spPr>
        <p:txBody>
          <a:bodyPr vert="horz" wrap="square" lIns="248400" tIns="45720" rIns="91440" bIns="45720" rtlCol="0">
            <a:spAutoFit/>
          </a:bodyPr>
          <a:lstStyle>
            <a:lvl1pPr>
              <a:buClr>
                <a:schemeClr val="accent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Ipsum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6029D9-559F-41CA-9764-19DF934B91A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46286BF-A445-49C4-847D-152565CD7F82}" type="datetime1">
              <a:rPr lang="de-DE" smtClean="0"/>
              <a:t>18.03.25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25CF540-E692-4EBC-959F-5787EA0C4F5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BFFE4C2-D534-5115-D874-2358F13210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29627" y="81624"/>
            <a:ext cx="13462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439140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viol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 wrap="none" lIns="248400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4F30DF-193C-4597-B357-DE15D436D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24840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</a:t>
            </a:r>
            <a:br>
              <a:rPr lang="de-DE" sz="3600">
                <a:solidFill>
                  <a:schemeClr val="accent1"/>
                </a:solidFill>
              </a:rPr>
            </a:br>
            <a:r>
              <a:rPr lang="de-DE" sz="3600">
                <a:solidFill>
                  <a:schemeClr val="accent1"/>
                </a:solidFill>
              </a:rPr>
              <a:t>(MAX. ZWEI ZEILEN)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sp>
        <p:nvSpPr>
          <p:cNvPr id="7" name="Textplatzhalter 25">
            <a:extLst>
              <a:ext uri="{FF2B5EF4-FFF2-40B4-BE49-F238E27FC236}">
                <a16:creationId xmlns:a16="http://schemas.microsoft.com/office/drawing/2014/main" id="{6A229F09-D3DC-4600-9DA6-91E8565877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1823157"/>
            <a:ext cx="9072000" cy="1985415"/>
          </a:xfrm>
          <a:prstGeom prst="rect">
            <a:avLst/>
          </a:prstGeom>
        </p:spPr>
        <p:txBody>
          <a:bodyPr vert="horz" lIns="248400" tIns="45720" rIns="91440" bIns="45720" rtlCol="0">
            <a:sp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endParaRPr lang="de-DE"/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A799B5-40B0-4F9F-95CD-FB39FFBF5F1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89419C-D011-4AB4-AD15-277E9FAA3F82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149937-D8D4-4265-8711-B424FC8AD17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0940764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4F30DF-193C-4597-B357-DE15D436D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248400"/>
          <a:lstStyle>
            <a:lvl1pPr>
              <a:defRPr/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</a:t>
            </a:r>
            <a:br>
              <a:rPr lang="de-DE" sz="3600">
                <a:solidFill>
                  <a:schemeClr val="accent1"/>
                </a:solidFill>
              </a:rPr>
            </a:br>
            <a:r>
              <a:rPr lang="de-DE" sz="3600">
                <a:solidFill>
                  <a:schemeClr val="accent1"/>
                </a:solidFill>
              </a:rPr>
              <a:t>(MAX. ZWEI ZEILEN)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D1559D7-FC8C-45F7-BBDC-E57D793BE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Textplatzhalter 25">
            <a:extLst>
              <a:ext uri="{FF2B5EF4-FFF2-40B4-BE49-F238E27FC236}">
                <a16:creationId xmlns:a16="http://schemas.microsoft.com/office/drawing/2014/main" id="{6BC2C113-B24E-4300-8451-F35D01C09F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6888" y="1608575"/>
            <a:ext cx="10866912" cy="3978333"/>
          </a:xfrm>
          <a:prstGeom prst="rect">
            <a:avLst/>
          </a:prstGeom>
        </p:spPr>
        <p:txBody>
          <a:bodyPr vert="horz" wrap="square" lIns="248400" tIns="45720" rIns="91440" bIns="4572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lvl1pPr>
            <a:lvl2pPr marL="576000" indent="-288000">
              <a:lnSpc>
                <a:spcPct val="150000"/>
              </a:lnSpc>
              <a:buClr>
                <a:schemeClr val="accent1"/>
              </a:buClr>
              <a:buFont typeface="Symbol" panose="05050102010706020507" pitchFamily="18" charset="2"/>
              <a:buChar char="-"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erat, sed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erat, sed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erat, sed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erat, sed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rgbClr val="49439B"/>
              </a:solidFill>
              <a:effectLst/>
              <a:uLnTx/>
              <a:uFillTx/>
              <a:latin typeface="DM Office"/>
              <a:ea typeface="+mn-ea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383BF2-6B5C-4F7F-B32C-FF587724C5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B7B9BAE-82B7-4827-B990-408DB1467F10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E61A67-4D39-49F9-9278-4FCC1CE461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B59BF37-5146-C369-5919-22DC6E0748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29627" y="81624"/>
            <a:ext cx="13462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55094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ießtext viol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25">
            <a:extLst>
              <a:ext uri="{FF2B5EF4-FFF2-40B4-BE49-F238E27FC236}">
                <a16:creationId xmlns:a16="http://schemas.microsoft.com/office/drawing/2014/main" id="{DF955442-463A-482B-A871-694A420FFA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-2" y="1823157"/>
            <a:ext cx="9072000" cy="4747775"/>
          </a:xfrm>
          <a:prstGeom prst="rect">
            <a:avLst/>
          </a:prstGeom>
        </p:spPr>
        <p:txBody>
          <a:bodyPr vert="horz" lIns="248400" tIns="45720" rIns="91440" bIns="4572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  <a:lvl2pPr marL="576000" indent="-288000">
              <a:lnSpc>
                <a:spcPct val="150000"/>
              </a:lnSpc>
              <a:buClr>
                <a:schemeClr val="bg1"/>
              </a:buClr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</a:t>
            </a: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srgbClr val="49439B"/>
              </a:solidFill>
              <a:effectLst/>
              <a:uLnTx/>
              <a:uFillTx/>
              <a:latin typeface="DM Office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srgbClr val="49439B"/>
              </a:solidFill>
              <a:effectLst/>
              <a:uLnTx/>
              <a:uFillTx/>
              <a:latin typeface="DM Office"/>
              <a:ea typeface="+mn-ea"/>
              <a:cs typeface="+mn-c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817100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</a:t>
            </a:r>
            <a:br>
              <a:rPr lang="de-DE" sz="3600">
                <a:solidFill>
                  <a:schemeClr val="accent1"/>
                </a:solidFill>
              </a:rPr>
            </a:br>
            <a:r>
              <a:rPr lang="de-DE" sz="3600">
                <a:solidFill>
                  <a:schemeClr val="accent1"/>
                </a:solidFill>
              </a:rPr>
              <a:t>(MAX. ZWEI ZEILEN)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6D3E3AF-7D43-492C-9244-9AB829B3D8B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A925B3-97B5-43F0-B377-065251E31047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131F35C-A4E8-45A4-92FE-3C98218B3F5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5528137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- und Subline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4F30DF-193C-4597-B357-DE15D436D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248400"/>
          <a:lstStyle>
            <a:lvl1pPr>
              <a:defRPr/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</a:t>
            </a:r>
            <a:br>
              <a:rPr lang="de-DE" sz="3600">
                <a:solidFill>
                  <a:schemeClr val="accent1"/>
                </a:solidFill>
              </a:rPr>
            </a:br>
            <a:r>
              <a:rPr lang="de-DE" sz="3600">
                <a:solidFill>
                  <a:schemeClr val="accent1"/>
                </a:solidFill>
              </a:rPr>
              <a:t>(MAX. ZWEI ZEILEN)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D1559D7-FC8C-45F7-BBDC-E57D793BE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10B55F-E6B3-4851-A591-8E2A962233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D729555-5284-44B6-8015-BE2B170FE083}" type="datetime1">
              <a:rPr lang="de-DE" smtClean="0"/>
              <a:t>18.03.25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A8A81F-2093-4E9F-AAD7-C37CE6CE39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3342233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- und Subline viol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817100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</a:t>
            </a:r>
            <a:br>
              <a:rPr lang="de-DE" sz="3600">
                <a:solidFill>
                  <a:schemeClr val="accent1"/>
                </a:solidFill>
              </a:rPr>
            </a:br>
            <a:r>
              <a:rPr lang="de-DE" sz="3600">
                <a:solidFill>
                  <a:schemeClr val="accent1"/>
                </a:solidFill>
              </a:rPr>
              <a:t>(MAX. ZWEI ZEILEN)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582A64-6E12-4935-A84E-95BF3C2C828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4EDAF9-365A-425B-9E24-C831ED308DE1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5D45E3-6D5E-43F2-91B6-82CA0358C2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7361196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zess (3x) viol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817100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</a:t>
            </a:r>
            <a:br>
              <a:rPr lang="de-DE" sz="3600">
                <a:solidFill>
                  <a:schemeClr val="accent1"/>
                </a:solidFill>
              </a:rPr>
            </a:br>
            <a:r>
              <a:rPr lang="de-DE" sz="3600">
                <a:solidFill>
                  <a:schemeClr val="accent1"/>
                </a:solidFill>
              </a:rPr>
              <a:t>(MAX. ZWEI ZEILEN)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D6FE18C2-54F3-4E29-9DE7-B4CDB53F9D0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00" y="4038600"/>
            <a:ext cx="1219320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9EE1F178-D22F-497B-A835-709829F7AB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197" y="4055268"/>
            <a:ext cx="12193199" cy="2802731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</a:t>
            </a:r>
            <a:br>
              <a:rPr lang="de-DE"/>
            </a:br>
            <a:r>
              <a:rPr lang="de-DE"/>
              <a:t>(Rechte Maustaste – In den Hintergrund)</a:t>
            </a:r>
          </a:p>
        </p:txBody>
      </p:sp>
      <p:sp>
        <p:nvSpPr>
          <p:cNvPr id="74" name="Textplatzhalter 6">
            <a:extLst>
              <a:ext uri="{FF2B5EF4-FFF2-40B4-BE49-F238E27FC236}">
                <a16:creationId xmlns:a16="http://schemas.microsoft.com/office/drawing/2014/main" id="{4C0A5E02-F01E-4A1E-8545-DDB0BCAA47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71193" y="2069011"/>
            <a:ext cx="1990800" cy="342000"/>
          </a:xfrm>
        </p:spPr>
        <p:txBody>
          <a:bodyPr lIns="0" tIns="0" rIns="0" bIns="0" anchor="ctr" anchorCtr="0"/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Phase 1</a:t>
            </a:r>
          </a:p>
        </p:txBody>
      </p:sp>
      <p:sp>
        <p:nvSpPr>
          <p:cNvPr id="75" name="Textplatzhalter 6">
            <a:extLst>
              <a:ext uri="{FF2B5EF4-FFF2-40B4-BE49-F238E27FC236}">
                <a16:creationId xmlns:a16="http://schemas.microsoft.com/office/drawing/2014/main" id="{FEF7D427-1DAD-4C32-B310-FE8A414449E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9124" y="2069011"/>
            <a:ext cx="1990800" cy="342000"/>
          </a:xfrm>
        </p:spPr>
        <p:txBody>
          <a:bodyPr lIns="0" tIns="0" rIns="0" bIns="0" anchor="ctr" anchorCtr="0"/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Phase 2</a:t>
            </a:r>
          </a:p>
        </p:txBody>
      </p:sp>
      <p:sp>
        <p:nvSpPr>
          <p:cNvPr id="76" name="Textplatzhalter 6">
            <a:extLst>
              <a:ext uri="{FF2B5EF4-FFF2-40B4-BE49-F238E27FC236}">
                <a16:creationId xmlns:a16="http://schemas.microsoft.com/office/drawing/2014/main" id="{FEECE8D6-F542-4B1C-A2C3-939DFE7FDA5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25743" y="2069011"/>
            <a:ext cx="1990800" cy="342000"/>
          </a:xfrm>
        </p:spPr>
        <p:txBody>
          <a:bodyPr lIns="0" tIns="0" rIns="0" bIns="0" anchor="ctr" anchorCtr="0"/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Phase 3</a:t>
            </a:r>
          </a:p>
        </p:txBody>
      </p:sp>
      <p:sp>
        <p:nvSpPr>
          <p:cNvPr id="78" name="Textplatzhalter 6">
            <a:extLst>
              <a:ext uri="{FF2B5EF4-FFF2-40B4-BE49-F238E27FC236}">
                <a16:creationId xmlns:a16="http://schemas.microsoft.com/office/drawing/2014/main" id="{B9159822-7CD8-40BB-9951-92FC03800C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71193" y="2498879"/>
            <a:ext cx="1990800" cy="646331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consectetuer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.</a:t>
            </a:r>
          </a:p>
        </p:txBody>
      </p:sp>
      <p:sp>
        <p:nvSpPr>
          <p:cNvPr id="79" name="Textplatzhalter 6">
            <a:extLst>
              <a:ext uri="{FF2B5EF4-FFF2-40B4-BE49-F238E27FC236}">
                <a16:creationId xmlns:a16="http://schemas.microsoft.com/office/drawing/2014/main" id="{C5502598-A2DD-460C-B920-3EB9CC69611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99124" y="2498879"/>
            <a:ext cx="1990800" cy="646331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consectetuer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.</a:t>
            </a:r>
          </a:p>
        </p:txBody>
      </p:sp>
      <p:sp>
        <p:nvSpPr>
          <p:cNvPr id="80" name="Textplatzhalter 6">
            <a:extLst>
              <a:ext uri="{FF2B5EF4-FFF2-40B4-BE49-F238E27FC236}">
                <a16:creationId xmlns:a16="http://schemas.microsoft.com/office/drawing/2014/main" id="{E8546944-A5AE-4845-8BF2-7EDF7330BEA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25743" y="2498879"/>
            <a:ext cx="1990800" cy="646331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consectetuer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C48A130-7885-4DFD-944E-2BE9D5991E31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9D175-13BC-4D91-B7DB-76E65817338C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3A8ACF-A35D-4AC2-8231-E1A7A33F3EA0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81521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zess (4x) viol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817100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</a:t>
            </a:r>
            <a:br>
              <a:rPr lang="de-DE" sz="3600">
                <a:solidFill>
                  <a:schemeClr val="accent1"/>
                </a:solidFill>
              </a:rPr>
            </a:br>
            <a:r>
              <a:rPr lang="de-DE" sz="3600">
                <a:solidFill>
                  <a:schemeClr val="accent1"/>
                </a:solidFill>
              </a:rPr>
              <a:t>(MAX. ZWEI ZEILEN)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D6FE18C2-54F3-4E29-9DE7-B4CDB53F9D0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00" y="4038600"/>
            <a:ext cx="1219320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9EE1F178-D22F-497B-A835-709829F7AB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197" y="4055268"/>
            <a:ext cx="12193199" cy="2802731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</a:t>
            </a:r>
            <a:br>
              <a:rPr lang="de-DE"/>
            </a:br>
            <a:r>
              <a:rPr lang="de-DE"/>
              <a:t>(Rechte Maustaste – In den Hintergrund)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3F2096-FE89-4A65-83A7-3A7132270BD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06445" y="2069011"/>
            <a:ext cx="1990800" cy="342000"/>
          </a:xfrm>
        </p:spPr>
        <p:txBody>
          <a:bodyPr lIns="0" tIns="0" rIns="0" bIns="0" anchor="ctr" anchorCtr="0"/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Phase 1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DAD1F367-5F41-467F-94C5-6835D7813F8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33722" y="2069011"/>
            <a:ext cx="1990800" cy="342000"/>
          </a:xfrm>
        </p:spPr>
        <p:txBody>
          <a:bodyPr lIns="0" tIns="0" rIns="0" bIns="0" anchor="ctr" anchorCtr="0"/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Phase 2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C675DF08-6226-46BD-9C96-3A2C69B2518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1653" y="2069011"/>
            <a:ext cx="1990800" cy="342000"/>
          </a:xfrm>
        </p:spPr>
        <p:txBody>
          <a:bodyPr lIns="0" tIns="0" rIns="0" bIns="0" anchor="ctr" anchorCtr="0"/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Phase 3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3E8DAFC4-C58C-4157-B550-EDBB675DCE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88272" y="2069011"/>
            <a:ext cx="1990800" cy="342000"/>
          </a:xfrm>
        </p:spPr>
        <p:txBody>
          <a:bodyPr lIns="0" tIns="0" rIns="0" bIns="0" anchor="ctr" anchorCtr="0"/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Phase 4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F98FC83-B79C-4C74-9619-73E60958B72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06445" y="2498879"/>
            <a:ext cx="1990800" cy="646331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consectetuer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.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307D2D2D-C366-400B-80C4-3A0E868FBE1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33722" y="2498879"/>
            <a:ext cx="1990800" cy="646331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consectetuer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.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A48C13C8-4FB9-4374-B559-404AF2DE84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1653" y="2498879"/>
            <a:ext cx="1990800" cy="646331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consectetuer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.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3C7B1E61-89AF-4483-A07A-E6649B66BEE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88272" y="2498879"/>
            <a:ext cx="1990800" cy="646331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consectetuer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1B55BFC-458E-4718-97CB-BCF7974DF714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DD40AA-E37E-4D24-90E3-E41B80E648D3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77F5767-BC82-4FB7-95D5-238A37A04ABF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35C3A5-2325-4575-B84F-95ABA71E91CE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3661839"/>
      </p:ext>
    </p:extLst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zess (5x) viol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817100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</a:t>
            </a:r>
            <a:br>
              <a:rPr lang="de-DE" sz="3600">
                <a:solidFill>
                  <a:schemeClr val="accent1"/>
                </a:solidFill>
              </a:rPr>
            </a:br>
            <a:r>
              <a:rPr lang="de-DE" sz="3600">
                <a:solidFill>
                  <a:schemeClr val="accent1"/>
                </a:solidFill>
              </a:rPr>
              <a:t>(MAX. ZWEI ZEILEN)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D6FE18C2-54F3-4E29-9DE7-B4CDB53F9D0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00" y="4038600"/>
            <a:ext cx="1219320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9EE1F178-D22F-497B-A835-709829F7AB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197" y="4055268"/>
            <a:ext cx="12193199" cy="2802731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</a:t>
            </a:r>
            <a:br>
              <a:rPr lang="de-DE"/>
            </a:br>
            <a:r>
              <a:rPr lang="de-DE"/>
              <a:t>(Rechte Maustaste – In den Hintergrund)</a:t>
            </a:r>
          </a:p>
        </p:txBody>
      </p:sp>
      <p:sp>
        <p:nvSpPr>
          <p:cNvPr id="73" name="Textplatzhalter 6">
            <a:extLst>
              <a:ext uri="{FF2B5EF4-FFF2-40B4-BE49-F238E27FC236}">
                <a16:creationId xmlns:a16="http://schemas.microsoft.com/office/drawing/2014/main" id="{5CB5C1B3-789D-47B8-A161-83BBBCE186B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3916" y="2069011"/>
            <a:ext cx="1990800" cy="342000"/>
          </a:xfrm>
        </p:spPr>
        <p:txBody>
          <a:bodyPr lIns="0" tIns="0" rIns="0" bIns="0" anchor="ctr" anchorCtr="0"/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Phase 1</a:t>
            </a:r>
          </a:p>
        </p:txBody>
      </p:sp>
      <p:sp>
        <p:nvSpPr>
          <p:cNvPr id="74" name="Textplatzhalter 6">
            <a:extLst>
              <a:ext uri="{FF2B5EF4-FFF2-40B4-BE49-F238E27FC236}">
                <a16:creationId xmlns:a16="http://schemas.microsoft.com/office/drawing/2014/main" id="{4C0A5E02-F01E-4A1E-8545-DDB0BCAA476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71193" y="2069011"/>
            <a:ext cx="1990800" cy="342000"/>
          </a:xfrm>
        </p:spPr>
        <p:txBody>
          <a:bodyPr lIns="0" tIns="0" rIns="0" bIns="0" anchor="ctr" anchorCtr="0"/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Phase 2</a:t>
            </a:r>
          </a:p>
        </p:txBody>
      </p:sp>
      <p:sp>
        <p:nvSpPr>
          <p:cNvPr id="75" name="Textplatzhalter 6">
            <a:extLst>
              <a:ext uri="{FF2B5EF4-FFF2-40B4-BE49-F238E27FC236}">
                <a16:creationId xmlns:a16="http://schemas.microsoft.com/office/drawing/2014/main" id="{FEF7D427-1DAD-4C32-B310-FE8A414449E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9124" y="2069011"/>
            <a:ext cx="1990800" cy="342000"/>
          </a:xfrm>
        </p:spPr>
        <p:txBody>
          <a:bodyPr lIns="0" tIns="0" rIns="0" bIns="0" anchor="ctr" anchorCtr="0"/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Phase 3</a:t>
            </a:r>
          </a:p>
        </p:txBody>
      </p:sp>
      <p:sp>
        <p:nvSpPr>
          <p:cNvPr id="76" name="Textplatzhalter 6">
            <a:extLst>
              <a:ext uri="{FF2B5EF4-FFF2-40B4-BE49-F238E27FC236}">
                <a16:creationId xmlns:a16="http://schemas.microsoft.com/office/drawing/2014/main" id="{FEECE8D6-F542-4B1C-A2C3-939DFE7FDA5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25743" y="2069011"/>
            <a:ext cx="1990800" cy="342000"/>
          </a:xfrm>
        </p:spPr>
        <p:txBody>
          <a:bodyPr lIns="0" tIns="0" rIns="0" bIns="0" anchor="ctr" anchorCtr="0"/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Phase 4</a:t>
            </a:r>
          </a:p>
        </p:txBody>
      </p:sp>
      <p:sp>
        <p:nvSpPr>
          <p:cNvPr id="77" name="Textplatzhalter 6">
            <a:extLst>
              <a:ext uri="{FF2B5EF4-FFF2-40B4-BE49-F238E27FC236}">
                <a16:creationId xmlns:a16="http://schemas.microsoft.com/office/drawing/2014/main" id="{0B63985C-7D40-4260-A214-66FAC1D2836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3916" y="2498879"/>
            <a:ext cx="1990800" cy="646331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consectetuer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.</a:t>
            </a:r>
          </a:p>
        </p:txBody>
      </p:sp>
      <p:sp>
        <p:nvSpPr>
          <p:cNvPr id="78" name="Textplatzhalter 6">
            <a:extLst>
              <a:ext uri="{FF2B5EF4-FFF2-40B4-BE49-F238E27FC236}">
                <a16:creationId xmlns:a16="http://schemas.microsoft.com/office/drawing/2014/main" id="{B9159822-7CD8-40BB-9951-92FC03800C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71193" y="2498879"/>
            <a:ext cx="1990800" cy="646331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consectetuer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.</a:t>
            </a:r>
          </a:p>
        </p:txBody>
      </p:sp>
      <p:sp>
        <p:nvSpPr>
          <p:cNvPr id="79" name="Textplatzhalter 6">
            <a:extLst>
              <a:ext uri="{FF2B5EF4-FFF2-40B4-BE49-F238E27FC236}">
                <a16:creationId xmlns:a16="http://schemas.microsoft.com/office/drawing/2014/main" id="{C5502598-A2DD-460C-B920-3EB9CC69611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99124" y="2498879"/>
            <a:ext cx="1990800" cy="646331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consectetuer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.</a:t>
            </a:r>
          </a:p>
        </p:txBody>
      </p:sp>
      <p:sp>
        <p:nvSpPr>
          <p:cNvPr id="80" name="Textplatzhalter 6">
            <a:extLst>
              <a:ext uri="{FF2B5EF4-FFF2-40B4-BE49-F238E27FC236}">
                <a16:creationId xmlns:a16="http://schemas.microsoft.com/office/drawing/2014/main" id="{E8546944-A5AE-4845-8BF2-7EDF7330BEA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25743" y="2498879"/>
            <a:ext cx="1990800" cy="646331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consectetuer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.</a:t>
            </a:r>
          </a:p>
        </p:txBody>
      </p:sp>
      <p:sp>
        <p:nvSpPr>
          <p:cNvPr id="82" name="Textplatzhalter 6">
            <a:extLst>
              <a:ext uri="{FF2B5EF4-FFF2-40B4-BE49-F238E27FC236}">
                <a16:creationId xmlns:a16="http://schemas.microsoft.com/office/drawing/2014/main" id="{2A1E7F23-FACA-4097-97BB-4E52C861A9F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759847" y="2498879"/>
            <a:ext cx="1990800" cy="646331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consectetuer</a:t>
            </a:r>
            <a:r>
              <a:rPr lang="de-DE"/>
              <a:t> </a:t>
            </a:r>
            <a:r>
              <a:rPr lang="de-DE" err="1"/>
              <a:t>adipiscing</a:t>
            </a:r>
            <a:r>
              <a:rPr lang="de-DE"/>
              <a:t> </a:t>
            </a:r>
            <a:r>
              <a:rPr lang="de-DE" err="1"/>
              <a:t>elit</a:t>
            </a:r>
            <a:r>
              <a:rPr lang="de-DE"/>
              <a:t>.</a:t>
            </a:r>
          </a:p>
        </p:txBody>
      </p:sp>
      <p:sp>
        <p:nvSpPr>
          <p:cNvPr id="83" name="Textplatzhalter 6">
            <a:extLst>
              <a:ext uri="{FF2B5EF4-FFF2-40B4-BE49-F238E27FC236}">
                <a16:creationId xmlns:a16="http://schemas.microsoft.com/office/drawing/2014/main" id="{78C35BBE-EC6C-4D9E-85BF-86C58D968C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759845" y="2069011"/>
            <a:ext cx="1990800" cy="342000"/>
          </a:xfrm>
        </p:spPr>
        <p:txBody>
          <a:bodyPr lIns="0" tIns="0" rIns="0" bIns="0" anchor="ctr" anchorCtr="0"/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Phase 5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EEADA23-871B-46D3-BB5D-C4829393B91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2BDEB9-C6A1-4E15-86B3-8006B5860F43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60FB3F2-2FA0-476D-8D1A-F0561173CBAF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2016869"/>
      </p:ext>
    </p:extLst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Bildmotiv viol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21575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 (MAX. ZWEI ZEILEN)</a:t>
            </a:r>
          </a:p>
        </p:txBody>
      </p:sp>
      <p:sp>
        <p:nvSpPr>
          <p:cNvPr id="13" name="Bildplatzhalter 40">
            <a:extLst>
              <a:ext uri="{FF2B5EF4-FFF2-40B4-BE49-F238E27FC236}">
                <a16:creationId xmlns:a16="http://schemas.microsoft.com/office/drawing/2014/main" id="{3AAD8711-4CEE-4A56-8875-3786A327C95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85099" y="0"/>
            <a:ext cx="4406901" cy="685800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(Rechte Maustaste – In den Hintergrund)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F830586-7DC0-4A39-853D-F646C03E7CE4}"/>
              </a:ext>
            </a:extLst>
          </p:cNvPr>
          <p:cNvCxnSpPr>
            <a:cxnSpLocks/>
          </p:cNvCxnSpPr>
          <p:nvPr userDrawn="1"/>
        </p:nvCxnSpPr>
        <p:spPr>
          <a:xfrm>
            <a:off x="7769225" y="-1"/>
            <a:ext cx="0" cy="6858001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25">
            <a:extLst>
              <a:ext uri="{FF2B5EF4-FFF2-40B4-BE49-F238E27FC236}">
                <a16:creationId xmlns:a16="http://schemas.microsoft.com/office/drawing/2014/main" id="{C8354A3C-BD29-40E2-A33A-F6C09EF50C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1823157"/>
            <a:ext cx="7521575" cy="1985415"/>
          </a:xfrm>
          <a:prstGeom prst="rect">
            <a:avLst/>
          </a:prstGeom>
        </p:spPr>
        <p:txBody>
          <a:bodyPr vert="horz" wrap="square" lIns="248400" tIns="45720" rIns="91440" bIns="45720" rtlCol="0">
            <a:sp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endParaRPr lang="de-DE"/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8E4BEB9-28BA-48B6-AEB1-B22E33ACF26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E4ED88-453B-4F58-97C3-46322A334B60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ADA2CD7-1321-4708-AF1E-CEE2AC95C7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8091375"/>
      </p:ext>
    </p:extLst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Bildmotiv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21575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 (MAX. ZWEI ZEILEN)</a:t>
            </a:r>
          </a:p>
        </p:txBody>
      </p:sp>
      <p:sp>
        <p:nvSpPr>
          <p:cNvPr id="13" name="Bildplatzhalter 40">
            <a:extLst>
              <a:ext uri="{FF2B5EF4-FFF2-40B4-BE49-F238E27FC236}">
                <a16:creationId xmlns:a16="http://schemas.microsoft.com/office/drawing/2014/main" id="{3AAD8711-4CEE-4A56-8875-3786A327C95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85099" y="0"/>
            <a:ext cx="4406901" cy="685800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(Rechte Maustaste – In den Hintergrund)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F830586-7DC0-4A39-853D-F646C03E7CE4}"/>
              </a:ext>
            </a:extLst>
          </p:cNvPr>
          <p:cNvCxnSpPr>
            <a:cxnSpLocks/>
          </p:cNvCxnSpPr>
          <p:nvPr userDrawn="1"/>
        </p:nvCxnSpPr>
        <p:spPr>
          <a:xfrm>
            <a:off x="7769225" y="-1"/>
            <a:ext cx="0" cy="6858001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25">
            <a:extLst>
              <a:ext uri="{FF2B5EF4-FFF2-40B4-BE49-F238E27FC236}">
                <a16:creationId xmlns:a16="http://schemas.microsoft.com/office/drawing/2014/main" id="{C8354A3C-BD29-40E2-A33A-F6C09EF50C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1823157"/>
            <a:ext cx="7521575" cy="1985415"/>
          </a:xfrm>
          <a:prstGeom prst="rect">
            <a:avLst/>
          </a:prstGeom>
        </p:spPr>
        <p:txBody>
          <a:bodyPr vert="horz" wrap="square" lIns="248400" tIns="45720" rIns="91440" bIns="45720" rtlCol="0">
            <a:sp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endParaRPr lang="de-DE"/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452CBFC-98F3-4E19-8773-8F8F44717C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E3E5AFB-A73C-4121-9189-F9CCDC9287A7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C5914FA-B510-4E4B-B4F8-DB4ED5EF0EC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2735709"/>
      </p:ext>
    </p:extLst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Bildmotiv 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21575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 (MAX. ZWEI ZEILEN)</a:t>
            </a:r>
          </a:p>
        </p:txBody>
      </p:sp>
      <p:sp>
        <p:nvSpPr>
          <p:cNvPr id="13" name="Bildplatzhalter 40">
            <a:extLst>
              <a:ext uri="{FF2B5EF4-FFF2-40B4-BE49-F238E27FC236}">
                <a16:creationId xmlns:a16="http://schemas.microsoft.com/office/drawing/2014/main" id="{3AAD8711-4CEE-4A56-8875-3786A327C95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85099" y="0"/>
            <a:ext cx="4406901" cy="685800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(Rechte Maustaste – In den Hintergrund)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F830586-7DC0-4A39-853D-F646C03E7CE4}"/>
              </a:ext>
            </a:extLst>
          </p:cNvPr>
          <p:cNvCxnSpPr>
            <a:cxnSpLocks/>
          </p:cNvCxnSpPr>
          <p:nvPr userDrawn="1"/>
        </p:nvCxnSpPr>
        <p:spPr>
          <a:xfrm>
            <a:off x="7769225" y="-1"/>
            <a:ext cx="0" cy="6858001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25">
            <a:extLst>
              <a:ext uri="{FF2B5EF4-FFF2-40B4-BE49-F238E27FC236}">
                <a16:creationId xmlns:a16="http://schemas.microsoft.com/office/drawing/2014/main" id="{C8354A3C-BD29-40E2-A33A-F6C09EF50C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1823157"/>
            <a:ext cx="7521575" cy="1985415"/>
          </a:xfrm>
          <a:prstGeom prst="rect">
            <a:avLst/>
          </a:prstGeom>
        </p:spPr>
        <p:txBody>
          <a:bodyPr vert="horz" wrap="square" lIns="248400" tIns="45720" rIns="91440" bIns="45720" rtlCol="0">
            <a:sp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endParaRPr lang="de-DE"/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A36D4BD-761E-4DBA-BAB8-162C8474C41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DFCDF1-5370-4A84-B517-E8270AAE2F4C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4393F97-C3E3-4CF7-B9FE-F059697207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9031163"/>
      </p:ext>
    </p:extLst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Bildmotiv ro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21575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 (MAX. ZWEI ZEILEN)</a:t>
            </a:r>
          </a:p>
        </p:txBody>
      </p:sp>
      <p:sp>
        <p:nvSpPr>
          <p:cNvPr id="13" name="Bildplatzhalter 40">
            <a:extLst>
              <a:ext uri="{FF2B5EF4-FFF2-40B4-BE49-F238E27FC236}">
                <a16:creationId xmlns:a16="http://schemas.microsoft.com/office/drawing/2014/main" id="{3AAD8711-4CEE-4A56-8875-3786A327C95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85099" y="0"/>
            <a:ext cx="4406901" cy="685800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(Rechte Maustaste – In den Hintergrund)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F830586-7DC0-4A39-853D-F646C03E7CE4}"/>
              </a:ext>
            </a:extLst>
          </p:cNvPr>
          <p:cNvCxnSpPr>
            <a:cxnSpLocks/>
          </p:cNvCxnSpPr>
          <p:nvPr userDrawn="1"/>
        </p:nvCxnSpPr>
        <p:spPr>
          <a:xfrm>
            <a:off x="7769225" y="-1"/>
            <a:ext cx="0" cy="6858001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25">
            <a:extLst>
              <a:ext uri="{FF2B5EF4-FFF2-40B4-BE49-F238E27FC236}">
                <a16:creationId xmlns:a16="http://schemas.microsoft.com/office/drawing/2014/main" id="{C8354A3C-BD29-40E2-A33A-F6C09EF50C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1823157"/>
            <a:ext cx="7521575" cy="1985415"/>
          </a:xfrm>
          <a:prstGeom prst="rect">
            <a:avLst/>
          </a:prstGeom>
        </p:spPr>
        <p:txBody>
          <a:bodyPr vert="horz" wrap="square" lIns="248400" tIns="45720" rIns="91440" bIns="45720" rtlCol="0">
            <a:sp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endParaRPr lang="de-DE"/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453E1F1-26AD-4F5D-9D05-73084BB2273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B615048-2BEC-45E9-92DC-8B220C28D72D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2FAC4E6-E21A-4F53-A5C9-47B5F7E9C24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5137913"/>
      </p:ext>
    </p:extLst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Bildmotiv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21575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 (MAX. ZWEI ZEILEN)</a:t>
            </a:r>
          </a:p>
        </p:txBody>
      </p:sp>
      <p:sp>
        <p:nvSpPr>
          <p:cNvPr id="13" name="Bildplatzhalter 40">
            <a:extLst>
              <a:ext uri="{FF2B5EF4-FFF2-40B4-BE49-F238E27FC236}">
                <a16:creationId xmlns:a16="http://schemas.microsoft.com/office/drawing/2014/main" id="{3AAD8711-4CEE-4A56-8875-3786A327C95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85099" y="0"/>
            <a:ext cx="4406901" cy="685800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(Rechte Maustaste – In den Hintergrund)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6F830586-7DC0-4A39-853D-F646C03E7CE4}"/>
              </a:ext>
            </a:extLst>
          </p:cNvPr>
          <p:cNvCxnSpPr>
            <a:cxnSpLocks/>
          </p:cNvCxnSpPr>
          <p:nvPr userDrawn="1"/>
        </p:nvCxnSpPr>
        <p:spPr>
          <a:xfrm>
            <a:off x="7769225" y="-1"/>
            <a:ext cx="0" cy="6858001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25">
            <a:extLst>
              <a:ext uri="{FF2B5EF4-FFF2-40B4-BE49-F238E27FC236}">
                <a16:creationId xmlns:a16="http://schemas.microsoft.com/office/drawing/2014/main" id="{C8354A3C-BD29-40E2-A33A-F6C09EF50C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1823157"/>
            <a:ext cx="7521575" cy="1985415"/>
          </a:xfrm>
          <a:prstGeom prst="rect">
            <a:avLst/>
          </a:prstGeom>
        </p:spPr>
        <p:txBody>
          <a:bodyPr vert="horz" wrap="square" lIns="248400" tIns="45720" rIns="91440" bIns="45720" rtlCol="0">
            <a:sp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endParaRPr lang="de-DE"/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1C083B9-EF46-402C-B5C0-FFF4A67198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31CA24-0952-4A3D-8369-A96EACECF285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2C4D15-B077-40CD-B53E-0EC5C15CA2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0124970"/>
      </p:ext>
    </p:extLst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2x) Bildmotiv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21575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 (MAX. ZWEI ZEILEN)</a:t>
            </a:r>
          </a:p>
        </p:txBody>
      </p:sp>
      <p:sp>
        <p:nvSpPr>
          <p:cNvPr id="13" name="Bildplatzhalter 40">
            <a:extLst>
              <a:ext uri="{FF2B5EF4-FFF2-40B4-BE49-F238E27FC236}">
                <a16:creationId xmlns:a16="http://schemas.microsoft.com/office/drawing/2014/main" id="{3AAD8711-4CEE-4A56-8875-3786A327C95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85099" y="0"/>
            <a:ext cx="4406901" cy="685800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(Rechte Maustaste – In den Hintergrund)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ECDAC5-7D13-4B6C-B5B0-794957869719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1849" y="260349"/>
            <a:ext cx="936625" cy="936625"/>
          </a:xfrm>
          <a:prstGeom prst="rect">
            <a:avLst/>
          </a:prstGeom>
        </p:spPr>
      </p:pic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52AD0AE-73C5-47AA-A113-F4247E0E3DB4}"/>
              </a:ext>
            </a:extLst>
          </p:cNvPr>
          <p:cNvCxnSpPr>
            <a:cxnSpLocks/>
          </p:cNvCxnSpPr>
          <p:nvPr userDrawn="1"/>
        </p:nvCxnSpPr>
        <p:spPr>
          <a:xfrm flipH="1">
            <a:off x="-30823" y="3429000"/>
            <a:ext cx="7815923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platzhalter 25">
            <a:extLst>
              <a:ext uri="{FF2B5EF4-FFF2-40B4-BE49-F238E27FC236}">
                <a16:creationId xmlns:a16="http://schemas.microsoft.com/office/drawing/2014/main" id="{B9A53D3A-A36C-4336-AE6A-22F087754A6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-3" y="1823157"/>
            <a:ext cx="7521575" cy="1208344"/>
          </a:xfrm>
          <a:prstGeom prst="rect">
            <a:avLst/>
          </a:prstGeom>
        </p:spPr>
        <p:txBody>
          <a:bodyPr vert="horz" wrap="square" lIns="248400" tIns="45720" rIns="360000" bIns="4572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 b="0" i="0" baseline="0">
                <a:solidFill>
                  <a:schemeClr val="bg1"/>
                </a:solidFill>
              </a:defRPr>
            </a:lvl1pPr>
            <a:lvl2pPr marL="576000" indent="-288000">
              <a:lnSpc>
                <a:spcPct val="150000"/>
              </a:lnSpc>
              <a:buClr>
                <a:schemeClr val="bg1"/>
              </a:buClr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srgbClr val="49439B"/>
              </a:solidFill>
              <a:effectLst/>
              <a:uLnTx/>
              <a:uFillTx/>
              <a:latin typeface="DM Office"/>
              <a:ea typeface="+mn-ea"/>
              <a:cs typeface="+mn-cs"/>
            </a:endParaRPr>
          </a:p>
        </p:txBody>
      </p:sp>
      <p:sp>
        <p:nvSpPr>
          <p:cNvPr id="41" name="Textplatzhalter 25">
            <a:extLst>
              <a:ext uri="{FF2B5EF4-FFF2-40B4-BE49-F238E27FC236}">
                <a16:creationId xmlns:a16="http://schemas.microsoft.com/office/drawing/2014/main" id="{B71BE331-62DD-4ECF-811B-25CE93F69A5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-2" y="3632907"/>
            <a:ext cx="7521574" cy="2362506"/>
          </a:xfrm>
          <a:prstGeom prst="rect">
            <a:avLst/>
          </a:prstGeom>
        </p:spPr>
        <p:txBody>
          <a:bodyPr vert="horz" wrap="square" lIns="248400" tIns="45720" rIns="360000" bIns="4572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 b="0" i="0" baseline="0">
                <a:solidFill>
                  <a:schemeClr val="bg1"/>
                </a:solidFill>
              </a:defRPr>
            </a:lvl1pPr>
            <a:lvl2pPr marL="576000" indent="-288000">
              <a:lnSpc>
                <a:spcPct val="150000"/>
              </a:lnSpc>
              <a:buClr>
                <a:schemeClr val="bg1"/>
              </a:buClr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srgbClr val="49439B"/>
              </a:solidFill>
              <a:effectLst/>
              <a:uLnTx/>
              <a:uFillTx/>
              <a:latin typeface="DM Office"/>
              <a:ea typeface="+mn-ea"/>
              <a:cs typeface="+mn-cs"/>
            </a:endParaRPr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04E186A-631D-4410-B25A-B8A98FFF1EDB}"/>
              </a:ext>
            </a:extLst>
          </p:cNvPr>
          <p:cNvCxnSpPr>
            <a:cxnSpLocks/>
          </p:cNvCxnSpPr>
          <p:nvPr userDrawn="1"/>
        </p:nvCxnSpPr>
        <p:spPr>
          <a:xfrm>
            <a:off x="7769225" y="-1"/>
            <a:ext cx="0" cy="6858001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0995246-8FB6-45A8-B8FA-978C4D61331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040A1F-3006-45C5-9751-A1EF9FC5F0C1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9FEA77-1DBA-483F-A38E-A0681544DA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3803412"/>
      </p:ext>
    </p:extLst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2x) Bildmotiv (2x)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" name="Bildplatzhalter 40">
            <a:extLst>
              <a:ext uri="{FF2B5EF4-FFF2-40B4-BE49-F238E27FC236}">
                <a16:creationId xmlns:a16="http://schemas.microsoft.com/office/drawing/2014/main" id="{3AAD8711-4CEE-4A56-8875-3786A327C95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85600" y="0"/>
            <a:ext cx="4406400" cy="341280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(Rechte Maustaste – In den Hintergrund)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21575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 (MAX. ZWEI ZEILEN)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0" name="Textplatzhalter 25">
            <a:extLst>
              <a:ext uri="{FF2B5EF4-FFF2-40B4-BE49-F238E27FC236}">
                <a16:creationId xmlns:a16="http://schemas.microsoft.com/office/drawing/2014/main" id="{B9A53D3A-A36C-4336-AE6A-22F087754A6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-3" y="1823157"/>
            <a:ext cx="7521575" cy="1208344"/>
          </a:xfrm>
          <a:prstGeom prst="rect">
            <a:avLst/>
          </a:prstGeom>
        </p:spPr>
        <p:txBody>
          <a:bodyPr vert="horz" wrap="square" lIns="248400" tIns="45720" rIns="360000" bIns="4572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 b="0" i="0" baseline="0">
                <a:solidFill>
                  <a:schemeClr val="bg1"/>
                </a:solidFill>
              </a:defRPr>
            </a:lvl1pPr>
            <a:lvl2pPr marL="576000" indent="-288000">
              <a:lnSpc>
                <a:spcPct val="150000"/>
              </a:lnSpc>
              <a:buClr>
                <a:schemeClr val="bg1"/>
              </a:buClr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srgbClr val="49439B"/>
              </a:solidFill>
              <a:effectLst/>
              <a:uLnTx/>
              <a:uFillTx/>
              <a:latin typeface="DM Office"/>
              <a:ea typeface="+mn-ea"/>
              <a:cs typeface="+mn-cs"/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B048FECD-4CF4-4C69-9832-392E5D7364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00" y="3429000"/>
            <a:ext cx="1219320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8C0EFCE6-C458-4A7D-AB44-CAB4256BD755}"/>
              </a:ext>
            </a:extLst>
          </p:cNvPr>
          <p:cNvCxnSpPr>
            <a:cxnSpLocks/>
          </p:cNvCxnSpPr>
          <p:nvPr userDrawn="1"/>
        </p:nvCxnSpPr>
        <p:spPr>
          <a:xfrm>
            <a:off x="4426862" y="3438000"/>
            <a:ext cx="0" cy="342000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platzhalter 25">
            <a:extLst>
              <a:ext uri="{FF2B5EF4-FFF2-40B4-BE49-F238E27FC236}">
                <a16:creationId xmlns:a16="http://schemas.microsoft.com/office/drawing/2014/main" id="{5CD27B34-D06F-4F28-ADD0-679163650D2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33212" y="3432840"/>
            <a:ext cx="7521575" cy="2516273"/>
          </a:xfrm>
          <a:prstGeom prst="rect">
            <a:avLst/>
          </a:prstGeom>
        </p:spPr>
        <p:txBody>
          <a:bodyPr vert="horz" wrap="square" lIns="248400" tIns="198000" rIns="360000" bIns="4572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 b="0" i="0" baseline="0">
                <a:solidFill>
                  <a:schemeClr val="bg1"/>
                </a:solidFill>
              </a:defRPr>
            </a:lvl1pPr>
            <a:lvl2pPr marL="576000" indent="-288000">
              <a:lnSpc>
                <a:spcPct val="150000"/>
              </a:lnSpc>
              <a:buClr>
                <a:schemeClr val="bg1"/>
              </a:buClr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srgbClr val="49439B"/>
              </a:solidFill>
              <a:effectLst/>
              <a:uLnTx/>
              <a:uFillTx/>
              <a:latin typeface="DM Office"/>
              <a:ea typeface="+mn-ea"/>
              <a:cs typeface="+mn-cs"/>
            </a:endParaRP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667B3C75-E3DF-4E07-B1AF-3F1752E6D7AF}"/>
              </a:ext>
            </a:extLst>
          </p:cNvPr>
          <p:cNvCxnSpPr>
            <a:cxnSpLocks/>
          </p:cNvCxnSpPr>
          <p:nvPr userDrawn="1"/>
        </p:nvCxnSpPr>
        <p:spPr>
          <a:xfrm>
            <a:off x="7769225" y="-1"/>
            <a:ext cx="0" cy="3438001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Bildplatzhalter 40">
            <a:extLst>
              <a:ext uri="{FF2B5EF4-FFF2-40B4-BE49-F238E27FC236}">
                <a16:creationId xmlns:a16="http://schemas.microsoft.com/office/drawing/2014/main" id="{4066F6FA-D39A-4B74-A7EB-C3334EA1C14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448800"/>
            <a:ext cx="4413600" cy="340920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(Rechte Maustaste – In den Hintergrund)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1187F1B-AAD1-4B99-AB34-674D2ACA484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4C4E93-7CEF-4E91-9B4D-F9F2EC55AF77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3EDFEB4-3086-4E39-A482-557181BC7A9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3689601"/>
      </p:ext>
    </p:extLst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2x) Bildmotiv (2x) viole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6293F07-4C00-40E9-AACD-CB316F9AD1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" name="Bildplatzhalter 40">
            <a:extLst>
              <a:ext uri="{FF2B5EF4-FFF2-40B4-BE49-F238E27FC236}">
                <a16:creationId xmlns:a16="http://schemas.microsoft.com/office/drawing/2014/main" id="{3AAD8711-4CEE-4A56-8875-3786A327C95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85600" y="0"/>
            <a:ext cx="4406400" cy="341280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(Rechte Maustaste – In den Hintergrund)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9B7E47C-86A9-4D71-9A9E-CA766E403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21575" cy="1325563"/>
          </a:xfrm>
        </p:spPr>
        <p:txBody>
          <a:bodyPr lIns="2484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sz="3600">
                <a:solidFill>
                  <a:schemeClr val="accent1"/>
                </a:solidFill>
              </a:rPr>
              <a:t>HIER STEHT DIE HEADLINE DIESER FOLIE (MAX. ZWEI ZEILEN)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C4F0D3E2-3335-4E55-8563-B536F6DF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39250" y="6356350"/>
            <a:ext cx="268621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0" name="Textplatzhalter 25">
            <a:extLst>
              <a:ext uri="{FF2B5EF4-FFF2-40B4-BE49-F238E27FC236}">
                <a16:creationId xmlns:a16="http://schemas.microsoft.com/office/drawing/2014/main" id="{B9A53D3A-A36C-4336-AE6A-22F087754A6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-3" y="1823157"/>
            <a:ext cx="7521575" cy="1208344"/>
          </a:xfrm>
          <a:prstGeom prst="rect">
            <a:avLst/>
          </a:prstGeom>
        </p:spPr>
        <p:txBody>
          <a:bodyPr vert="horz" wrap="square" lIns="248400" tIns="45720" rIns="360000" bIns="4572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 b="0" i="0" baseline="0">
                <a:solidFill>
                  <a:schemeClr val="bg1"/>
                </a:solidFill>
              </a:defRPr>
            </a:lvl1pPr>
            <a:lvl2pPr marL="576000" indent="-288000">
              <a:lnSpc>
                <a:spcPct val="150000"/>
              </a:lnSpc>
              <a:buClr>
                <a:schemeClr val="bg1"/>
              </a:buClr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srgbClr val="49439B"/>
              </a:solidFill>
              <a:effectLst/>
              <a:uLnTx/>
              <a:uFillTx/>
              <a:latin typeface="DM Office"/>
              <a:ea typeface="+mn-ea"/>
              <a:cs typeface="+mn-cs"/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B048FECD-4CF4-4C69-9832-392E5D7364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00" y="3429000"/>
            <a:ext cx="1219320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8C0EFCE6-C458-4A7D-AB44-CAB4256BD755}"/>
              </a:ext>
            </a:extLst>
          </p:cNvPr>
          <p:cNvCxnSpPr>
            <a:cxnSpLocks/>
          </p:cNvCxnSpPr>
          <p:nvPr userDrawn="1"/>
        </p:nvCxnSpPr>
        <p:spPr>
          <a:xfrm>
            <a:off x="4426862" y="3438000"/>
            <a:ext cx="0" cy="342000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platzhalter 25">
            <a:extLst>
              <a:ext uri="{FF2B5EF4-FFF2-40B4-BE49-F238E27FC236}">
                <a16:creationId xmlns:a16="http://schemas.microsoft.com/office/drawing/2014/main" id="{5CD27B34-D06F-4F28-ADD0-679163650D2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33212" y="3432840"/>
            <a:ext cx="7521575" cy="2516273"/>
          </a:xfrm>
          <a:prstGeom prst="rect">
            <a:avLst/>
          </a:prstGeom>
        </p:spPr>
        <p:txBody>
          <a:bodyPr vert="horz" wrap="square" lIns="248400" tIns="198000" rIns="360000" bIns="4572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 b="0" i="0" baseline="0">
                <a:solidFill>
                  <a:schemeClr val="bg1"/>
                </a:solidFill>
              </a:defRPr>
            </a:lvl1pPr>
            <a:lvl2pPr marL="576000" indent="-288000">
              <a:lnSpc>
                <a:spcPct val="150000"/>
              </a:lnSpc>
              <a:buClr>
                <a:schemeClr val="bg1"/>
              </a:buClr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Lorem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ipsum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dolor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sit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amet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onsetetur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sadips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nonumy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eirmod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tempor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invidunt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ut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labore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Aiquyam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erat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, sed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diam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voluptua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At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vero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eos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 et </a:t>
            </a:r>
            <a:r>
              <a:rPr kumimoji="0" lang="de-DE" sz="2000" b="1" i="0" u="none" strike="noStrike" kern="1200" cap="none" spc="0" normalizeH="0" baseline="0" noProof="0" err="1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accusam</a:t>
            </a: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373737"/>
                </a:solidFill>
                <a:effectLst/>
                <a:uLnTx/>
                <a:uFillTx/>
                <a:latin typeface="DM Office"/>
                <a:ea typeface="+mn-ea"/>
                <a:cs typeface="+mn-cs"/>
              </a:rPr>
              <a:t>. </a:t>
            </a:r>
            <a:endParaRPr kumimoji="0" lang="de-DE" sz="2000" b="0" i="0" u="none" strike="noStrike" kern="1200" cap="none" spc="0" normalizeH="0" baseline="0" noProof="0">
              <a:ln>
                <a:noFill/>
              </a:ln>
              <a:solidFill>
                <a:srgbClr val="49439B"/>
              </a:solidFill>
              <a:effectLst/>
              <a:uLnTx/>
              <a:uFillTx/>
              <a:latin typeface="DM Office"/>
              <a:ea typeface="+mn-ea"/>
              <a:cs typeface="+mn-cs"/>
            </a:endParaRP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667B3C75-E3DF-4E07-B1AF-3F1752E6D7AF}"/>
              </a:ext>
            </a:extLst>
          </p:cNvPr>
          <p:cNvCxnSpPr>
            <a:cxnSpLocks/>
          </p:cNvCxnSpPr>
          <p:nvPr userDrawn="1"/>
        </p:nvCxnSpPr>
        <p:spPr>
          <a:xfrm>
            <a:off x="7769225" y="-1"/>
            <a:ext cx="0" cy="3438001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Bildplatzhalter 40">
            <a:extLst>
              <a:ext uri="{FF2B5EF4-FFF2-40B4-BE49-F238E27FC236}">
                <a16:creationId xmlns:a16="http://schemas.microsoft.com/office/drawing/2014/main" id="{4066F6FA-D39A-4B74-A7EB-C3334EA1C14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448800"/>
            <a:ext cx="4413600" cy="3409200"/>
          </a:xfrm>
          <a:prstGeom prst="rect">
            <a:avLst/>
          </a:prstGeom>
          <a:noFill/>
        </p:spPr>
        <p:txBody>
          <a:bodyPr wrap="square" lIns="0" rIns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hinzufügen und anschließend in den Hintergrund platzieren (Rechte Maustaste – In den Hintergrund)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FDFE614-3B5B-4515-A121-C3B9264E44A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6D6485-6FBC-4021-BB62-A9921A67C3FA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CD20D9-580F-4ABF-B053-C04E69FB1E1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715950"/>
      </p:ext>
    </p:extLst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violet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2BE64F0-793F-44F7-ACBE-4F29B853330E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6654" y="260349"/>
            <a:ext cx="936625" cy="936625"/>
          </a:xfrm>
          <a:prstGeom prst="rect">
            <a:avLst/>
          </a:prstGeom>
        </p:spPr>
      </p:pic>
      <p:sp>
        <p:nvSpPr>
          <p:cNvPr id="23" name="Textplatzhalter 23">
            <a:extLst>
              <a:ext uri="{FF2B5EF4-FFF2-40B4-BE49-F238E27FC236}">
                <a16:creationId xmlns:a16="http://schemas.microsoft.com/office/drawing/2014/main" id="{0AE332FF-8259-4C15-8E85-EFEE8F84B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892" y="3827663"/>
            <a:ext cx="6872108" cy="1323439"/>
          </a:xfrm>
        </p:spPr>
        <p:txBody>
          <a:bodyPr wrap="square"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8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Vielen Dank.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FA5848D-0FCF-4FE5-98E4-1A3800AFB7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  <p:sp>
        <p:nvSpPr>
          <p:cNvPr id="5" name="Datumsplatzhalter 1">
            <a:extLst>
              <a:ext uri="{FF2B5EF4-FFF2-40B4-BE49-F238E27FC236}">
                <a16:creationId xmlns:a16="http://schemas.microsoft.com/office/drawing/2014/main" id="{44EADDBC-E3BC-44E5-9351-9A7C8B64FE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635EC89-48BD-4F03-AEA2-3E9A13DE3072}" type="datetime1">
              <a:rPr lang="de-DE" smtClean="0"/>
              <a:t>18.03.25</a:t>
            </a:fld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5E51D9A0-D272-4435-9507-D1C4310BE75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0520ED62-684B-4A89-80F4-6A397C0BB6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239250" y="6356350"/>
            <a:ext cx="2686218" cy="365125"/>
          </a:xfrm>
        </p:spPr>
        <p:txBody>
          <a:bodyPr/>
          <a:lstStyle/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700064"/>
      </p:ext>
    </p:extLst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blau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2BE64F0-793F-44F7-ACBE-4F29B853330E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6654" y="260349"/>
            <a:ext cx="936625" cy="936625"/>
          </a:xfrm>
          <a:prstGeom prst="rect">
            <a:avLst/>
          </a:prstGeom>
        </p:spPr>
      </p:pic>
      <p:sp>
        <p:nvSpPr>
          <p:cNvPr id="23" name="Textplatzhalter 23">
            <a:extLst>
              <a:ext uri="{FF2B5EF4-FFF2-40B4-BE49-F238E27FC236}">
                <a16:creationId xmlns:a16="http://schemas.microsoft.com/office/drawing/2014/main" id="{0AE332FF-8259-4C15-8E85-EFEE8F84B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892" y="3827663"/>
            <a:ext cx="6872108" cy="1323439"/>
          </a:xfrm>
        </p:spPr>
        <p:txBody>
          <a:bodyPr wrap="square"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8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Vielen Dank.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FA5848D-0FCF-4FE5-98E4-1A3800AFB7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  <p:sp>
        <p:nvSpPr>
          <p:cNvPr id="5" name="Datumsplatzhalter 1">
            <a:extLst>
              <a:ext uri="{FF2B5EF4-FFF2-40B4-BE49-F238E27FC236}">
                <a16:creationId xmlns:a16="http://schemas.microsoft.com/office/drawing/2014/main" id="{44EADDBC-E3BC-44E5-9351-9A7C8B64FE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635EC89-48BD-4F03-AEA2-3E9A13DE3072}" type="datetime1">
              <a:rPr lang="de-DE" smtClean="0"/>
              <a:t>18.03.25</a:t>
            </a:fld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5E51D9A0-D272-4435-9507-D1C4310BE75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0520ED62-684B-4A89-80F4-6A397C0BB6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239250" y="6356350"/>
            <a:ext cx="2686218" cy="365125"/>
          </a:xfrm>
        </p:spPr>
        <p:txBody>
          <a:bodyPr/>
          <a:lstStyle/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790163"/>
      </p:ext>
    </p:extLst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mi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2BE64F0-793F-44F7-ACBE-4F29B853330E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6654" y="260349"/>
            <a:ext cx="936625" cy="936625"/>
          </a:xfrm>
          <a:prstGeom prst="rect">
            <a:avLst/>
          </a:prstGeom>
        </p:spPr>
      </p:pic>
      <p:sp>
        <p:nvSpPr>
          <p:cNvPr id="23" name="Textplatzhalter 23">
            <a:extLst>
              <a:ext uri="{FF2B5EF4-FFF2-40B4-BE49-F238E27FC236}">
                <a16:creationId xmlns:a16="http://schemas.microsoft.com/office/drawing/2014/main" id="{0AE332FF-8259-4C15-8E85-EFEE8F84B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892" y="3827663"/>
            <a:ext cx="6872108" cy="1323439"/>
          </a:xfrm>
        </p:spPr>
        <p:txBody>
          <a:bodyPr wrap="square"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8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Vielen Dank.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FA5848D-0FCF-4FE5-98E4-1A3800AFB7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  <p:sp>
        <p:nvSpPr>
          <p:cNvPr id="5" name="Datumsplatzhalter 1">
            <a:extLst>
              <a:ext uri="{FF2B5EF4-FFF2-40B4-BE49-F238E27FC236}">
                <a16:creationId xmlns:a16="http://schemas.microsoft.com/office/drawing/2014/main" id="{F0B6EFF1-1B9E-4CE2-B41E-1FC57653D5A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635EC89-48BD-4F03-AEA2-3E9A13DE3072}" type="datetime1">
              <a:rPr lang="de-DE" smtClean="0"/>
              <a:t>18.03.25</a:t>
            </a:fld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F287985D-0F8C-4F0B-835B-30FC3C7B25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EAA19AB8-8CD4-4FD7-906F-BB465B35FB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239250" y="6356350"/>
            <a:ext cx="2686218" cy="365125"/>
          </a:xfrm>
        </p:spPr>
        <p:txBody>
          <a:bodyPr/>
          <a:lstStyle/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4945494"/>
      </p:ext>
    </p:extLst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ros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2BE64F0-793F-44F7-ACBE-4F29B853330E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6654" y="260349"/>
            <a:ext cx="936625" cy="936625"/>
          </a:xfrm>
          <a:prstGeom prst="rect">
            <a:avLst/>
          </a:prstGeom>
        </p:spPr>
      </p:pic>
      <p:sp>
        <p:nvSpPr>
          <p:cNvPr id="23" name="Textplatzhalter 23">
            <a:extLst>
              <a:ext uri="{FF2B5EF4-FFF2-40B4-BE49-F238E27FC236}">
                <a16:creationId xmlns:a16="http://schemas.microsoft.com/office/drawing/2014/main" id="{0AE332FF-8259-4C15-8E85-EFEE8F84B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892" y="3827663"/>
            <a:ext cx="6872108" cy="1323439"/>
          </a:xfrm>
        </p:spPr>
        <p:txBody>
          <a:bodyPr wrap="square"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8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Vielen Dank.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FA5848D-0FCF-4FE5-98E4-1A3800AFB7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  <p:sp>
        <p:nvSpPr>
          <p:cNvPr id="5" name="Datumsplatzhalter 1">
            <a:extLst>
              <a:ext uri="{FF2B5EF4-FFF2-40B4-BE49-F238E27FC236}">
                <a16:creationId xmlns:a16="http://schemas.microsoft.com/office/drawing/2014/main" id="{A424ECAD-8F07-4C27-8844-8737ABFB398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635EC89-48BD-4F03-AEA2-3E9A13DE3072}" type="datetime1">
              <a:rPr lang="de-DE" smtClean="0"/>
              <a:t>18.03.25</a:t>
            </a:fld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EC4C2710-44FC-43BC-9123-069618D452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17AAC0EF-32A0-4D19-8798-67CC8BDA51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239250" y="6356350"/>
            <a:ext cx="2686218" cy="365125"/>
          </a:xfrm>
        </p:spPr>
        <p:txBody>
          <a:bodyPr/>
          <a:lstStyle/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1543490"/>
      </p:ext>
    </p:extLst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ro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2BE64F0-793F-44F7-ACBE-4F29B853330E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6654" y="260349"/>
            <a:ext cx="936625" cy="936625"/>
          </a:xfrm>
          <a:prstGeom prst="rect">
            <a:avLst/>
          </a:prstGeom>
        </p:spPr>
      </p:pic>
      <p:sp>
        <p:nvSpPr>
          <p:cNvPr id="23" name="Textplatzhalter 23">
            <a:extLst>
              <a:ext uri="{FF2B5EF4-FFF2-40B4-BE49-F238E27FC236}">
                <a16:creationId xmlns:a16="http://schemas.microsoft.com/office/drawing/2014/main" id="{0AE332FF-8259-4C15-8E85-EFEE8F84B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892" y="3827663"/>
            <a:ext cx="6872108" cy="1323439"/>
          </a:xfrm>
        </p:spPr>
        <p:txBody>
          <a:bodyPr wrap="square"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8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Vielen Dank.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FA5848D-0FCF-4FE5-98E4-1A3800AFB7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  <p:sp>
        <p:nvSpPr>
          <p:cNvPr id="5" name="Datumsplatzhalter 1">
            <a:extLst>
              <a:ext uri="{FF2B5EF4-FFF2-40B4-BE49-F238E27FC236}">
                <a16:creationId xmlns:a16="http://schemas.microsoft.com/office/drawing/2014/main" id="{A424ECAD-8F07-4C27-8844-8737ABFB398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635EC89-48BD-4F03-AEA2-3E9A13DE3072}" type="datetime1">
              <a:rPr lang="de-DE" smtClean="0"/>
              <a:t>18.03.25</a:t>
            </a:fld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EC4C2710-44FC-43BC-9123-069618D452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17AAC0EF-32A0-4D19-8798-67CC8BDA51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239250" y="6356350"/>
            <a:ext cx="2686218" cy="365125"/>
          </a:xfrm>
        </p:spPr>
        <p:txBody>
          <a:bodyPr/>
          <a:lstStyle/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5563268"/>
      </p:ext>
    </p:extLst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lavende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2BE64F0-793F-44F7-ACBE-4F29B853330E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6654" y="260349"/>
            <a:ext cx="936625" cy="936625"/>
          </a:xfrm>
          <a:prstGeom prst="rect">
            <a:avLst/>
          </a:prstGeom>
        </p:spPr>
      </p:pic>
      <p:sp>
        <p:nvSpPr>
          <p:cNvPr id="23" name="Textplatzhalter 23">
            <a:extLst>
              <a:ext uri="{FF2B5EF4-FFF2-40B4-BE49-F238E27FC236}">
                <a16:creationId xmlns:a16="http://schemas.microsoft.com/office/drawing/2014/main" id="{0AE332FF-8259-4C15-8E85-EFEE8F84B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892" y="3827663"/>
            <a:ext cx="6872108" cy="1323439"/>
          </a:xfrm>
        </p:spPr>
        <p:txBody>
          <a:bodyPr wrap="square" lIns="216000" rIns="262800" anchor="b" anchorCtr="0">
            <a:spAutoFit/>
          </a:bodyPr>
          <a:lstStyle>
            <a:lvl1pPr marL="0" indent="0" algn="r">
              <a:lnSpc>
                <a:spcPct val="100000"/>
              </a:lnSpc>
              <a:buNone/>
              <a:defRPr sz="8000" b="0">
                <a:solidFill>
                  <a:schemeClr val="bg1"/>
                </a:solidFill>
              </a:defRPr>
            </a:lvl1pPr>
            <a:lvl2pPr marL="288000" indent="0" algn="r">
              <a:buNone/>
              <a:defRPr sz="6000">
                <a:solidFill>
                  <a:schemeClr val="bg1"/>
                </a:solidFill>
              </a:defRPr>
            </a:lvl2pPr>
            <a:lvl3pPr marL="576000" indent="0" algn="r">
              <a:buNone/>
              <a:defRPr sz="6000">
                <a:solidFill>
                  <a:schemeClr val="bg1"/>
                </a:solidFill>
              </a:defRPr>
            </a:lvl3pPr>
            <a:lvl4pPr marL="864000" indent="0" algn="r">
              <a:buNone/>
              <a:defRPr sz="6000">
                <a:solidFill>
                  <a:schemeClr val="bg1"/>
                </a:solidFill>
              </a:defRPr>
            </a:lvl4pPr>
            <a:lvl5pPr marL="1152000" indent="0" algn="r">
              <a:buNone/>
              <a:defRPr sz="6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Vielen Dank.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FA5848D-0FCF-4FE5-98E4-1A3800AFB7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8" r="5467" b="17"/>
          <a:stretch/>
        </p:blipFill>
        <p:spPr>
          <a:xfrm>
            <a:off x="0" y="742950"/>
            <a:ext cx="8147374" cy="6124573"/>
          </a:xfrm>
          <a:prstGeom prst="rect">
            <a:avLst/>
          </a:prstGeom>
        </p:spPr>
      </p:pic>
      <p:sp>
        <p:nvSpPr>
          <p:cNvPr id="5" name="Datumsplatzhalter 1">
            <a:extLst>
              <a:ext uri="{FF2B5EF4-FFF2-40B4-BE49-F238E27FC236}">
                <a16:creationId xmlns:a16="http://schemas.microsoft.com/office/drawing/2014/main" id="{A424ECAD-8F07-4C27-8844-8737ABFB398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635EC89-48BD-4F03-AEA2-3E9A13DE3072}" type="datetime1">
              <a:rPr lang="de-DE" smtClean="0"/>
              <a:t>18.03.25</a:t>
            </a:fld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EC4C2710-44FC-43BC-9123-069618D452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17AAC0EF-32A0-4D19-8798-67CC8BDA51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239250" y="6356350"/>
            <a:ext cx="2686218" cy="365125"/>
          </a:xfrm>
        </p:spPr>
        <p:txBody>
          <a:bodyPr/>
          <a:lstStyle/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595026"/>
      </p:ext>
    </p:extLst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folie ohne Head- &amp;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4">
            <a:extLst>
              <a:ext uri="{FF2B5EF4-FFF2-40B4-BE49-F238E27FC236}">
                <a16:creationId xmlns:a16="http://schemas.microsoft.com/office/drawing/2014/main" id="{653FA255-D8A4-4756-A531-CE7B3ABBC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3575" y="6356350"/>
            <a:ext cx="1104899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05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B957B96-6C40-4D02-B871-69B1417D0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8F0AD-6D0D-4D3B-9D6E-33AB750D3677}" type="datetime1">
              <a:rPr lang="de-DE" smtClean="0"/>
              <a:t>18.03.25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266F29-A5EB-43E2-A475-94AE78E5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5325123"/>
      </p:ext>
    </p:extLst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41BDC6D6-0A67-41FA-85DD-A0CBB3B223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874712" y="1881188"/>
            <a:ext cx="10440000" cy="42116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E8E1F37-33F8-474D-904A-C6EC821D43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de-DE" err="1"/>
              <a:t>dm</a:t>
            </a:r>
            <a:r>
              <a:rPr lang="de-DE"/>
              <a:t>-Template 2021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AC2397A1-0FDB-4DCD-BAAB-E779EB523D8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 rIns="36000" bIns="0"/>
          <a:lstStyle/>
          <a:p>
            <a:fld id="{CB71A0B3-436A-40BC-92D2-BFDE076B530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2" name="Datumsplatzhalter 2">
            <a:extLst>
              <a:ext uri="{FF2B5EF4-FFF2-40B4-BE49-F238E27FC236}">
                <a16:creationId xmlns:a16="http://schemas.microsoft.com/office/drawing/2014/main" id="{879E832E-3913-40FE-BCB1-B94F8570060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5995288"/>
            <a:ext cx="12192000" cy="86271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b"/>
          <a:lstStyle>
            <a:lvl1pPr>
              <a:defRPr sz="100">
                <a:noFill/>
              </a:defRPr>
            </a:lvl1pPr>
          </a:lstStyle>
          <a:p>
            <a:r>
              <a:rPr lang="de-DE"/>
              <a:t>Datumsplatzhalter immer eingeblendet lassen (Logo)</a:t>
            </a:r>
          </a:p>
        </p:txBody>
      </p:sp>
      <p:sp>
        <p:nvSpPr>
          <p:cNvPr id="25" name="Untertitel 2">
            <a:extLst>
              <a:ext uri="{FF2B5EF4-FFF2-40B4-BE49-F238E27FC236}">
                <a16:creationId xmlns:a16="http://schemas.microsoft.com/office/drawing/2014/main" id="{842D3EEE-1531-4E89-8618-474092CEA0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874712" y="298139"/>
            <a:ext cx="10440000" cy="32385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400" b="1">
                <a:latin typeface="+mj-lt"/>
                <a:cs typeface="Arial" panose="020B0604020202020204" pitchFamily="34" charset="0"/>
              </a:rPr>
              <a:t>Hier kann eine Abschnittsbezeichnung stehen</a:t>
            </a:r>
          </a:p>
        </p:txBody>
      </p:sp>
      <p:sp>
        <p:nvSpPr>
          <p:cNvPr id="31" name="Titel 30">
            <a:extLst>
              <a:ext uri="{FF2B5EF4-FFF2-40B4-BE49-F238E27FC236}">
                <a16:creationId xmlns:a16="http://schemas.microsoft.com/office/drawing/2014/main" id="{D3665C84-2FF0-4498-BF55-E533949B5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kann eine ein- oder zweizeilige Headline stehen</a:t>
            </a:r>
          </a:p>
        </p:txBody>
      </p:sp>
    </p:spTree>
    <p:extLst>
      <p:ext uri="{BB962C8B-B14F-4D97-AF65-F5344CB8AC3E}">
        <p14:creationId xmlns:p14="http://schemas.microsoft.com/office/powerpoint/2010/main" val="344289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46E82E-97E6-4841-B16F-CC5624037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356350"/>
            <a:ext cx="268621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8B3FE-D52D-4C47-8549-63ED2E5F079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C683972-7B9E-485E-ABEF-7C9D94855CB9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9469" y="260349"/>
            <a:ext cx="936000" cy="936000"/>
          </a:xfrm>
          <a:prstGeom prst="rect">
            <a:avLst/>
          </a:prstGeom>
        </p:spPr>
      </p:pic>
      <p:sp>
        <p:nvSpPr>
          <p:cNvPr id="12" name="Gleichschenkliges Dreieck 11">
            <a:extLst>
              <a:ext uri="{FF2B5EF4-FFF2-40B4-BE49-F238E27FC236}">
                <a16:creationId xmlns:a16="http://schemas.microsoft.com/office/drawing/2014/main" id="{EB78899B-CADA-4027-AC8E-A6AD769818D6}"/>
              </a:ext>
            </a:extLst>
          </p:cNvPr>
          <p:cNvSpPr/>
          <p:nvPr userDrawn="1"/>
        </p:nvSpPr>
        <p:spPr>
          <a:xfrm rot="5400000">
            <a:off x="-210334" y="191770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3" name="Gleichschenkliges Dreieck 12">
            <a:extLst>
              <a:ext uri="{FF2B5EF4-FFF2-40B4-BE49-F238E27FC236}">
                <a16:creationId xmlns:a16="http://schemas.microsoft.com/office/drawing/2014/main" id="{5F6C55AD-8165-4029-A89D-A3EF18B4568C}"/>
              </a:ext>
            </a:extLst>
          </p:cNvPr>
          <p:cNvSpPr/>
          <p:nvPr userDrawn="1"/>
        </p:nvSpPr>
        <p:spPr>
          <a:xfrm rot="5400000">
            <a:off x="-210334" y="1131051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4" name="Gleichschenkliges Dreieck 13">
            <a:extLst>
              <a:ext uri="{FF2B5EF4-FFF2-40B4-BE49-F238E27FC236}">
                <a16:creationId xmlns:a16="http://schemas.microsoft.com/office/drawing/2014/main" id="{1BE72300-4434-4C1D-8210-F677674EAF14}"/>
              </a:ext>
            </a:extLst>
          </p:cNvPr>
          <p:cNvSpPr/>
          <p:nvPr userDrawn="1"/>
        </p:nvSpPr>
        <p:spPr>
          <a:xfrm rot="5400000">
            <a:off x="-210334" y="3362282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9F6ECBE4-EEBE-4992-A585-96BB2EB168D2}"/>
              </a:ext>
            </a:extLst>
          </p:cNvPr>
          <p:cNvSpPr/>
          <p:nvPr userDrawn="1"/>
        </p:nvSpPr>
        <p:spPr>
          <a:xfrm rot="5400000">
            <a:off x="-210334" y="6530137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6" name="Gleichschenkliges Dreieck 15">
            <a:extLst>
              <a:ext uri="{FF2B5EF4-FFF2-40B4-BE49-F238E27FC236}">
                <a16:creationId xmlns:a16="http://schemas.microsoft.com/office/drawing/2014/main" id="{5B0EF657-B3A5-41C5-93A8-59702158B871}"/>
              </a:ext>
            </a:extLst>
          </p:cNvPr>
          <p:cNvSpPr/>
          <p:nvPr userDrawn="1"/>
        </p:nvSpPr>
        <p:spPr>
          <a:xfrm rot="16200000" flipH="1">
            <a:off x="12244399" y="190991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7" name="Gleichschenkliges Dreieck 16">
            <a:extLst>
              <a:ext uri="{FF2B5EF4-FFF2-40B4-BE49-F238E27FC236}">
                <a16:creationId xmlns:a16="http://schemas.microsoft.com/office/drawing/2014/main" id="{BAE578A2-B5D2-4471-B3FA-AE8B9D1D5547}"/>
              </a:ext>
            </a:extLst>
          </p:cNvPr>
          <p:cNvSpPr/>
          <p:nvPr userDrawn="1"/>
        </p:nvSpPr>
        <p:spPr>
          <a:xfrm rot="16200000" flipH="1">
            <a:off x="12244399" y="1130272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8" name="Gleichschenkliges Dreieck 17">
            <a:extLst>
              <a:ext uri="{FF2B5EF4-FFF2-40B4-BE49-F238E27FC236}">
                <a16:creationId xmlns:a16="http://schemas.microsoft.com/office/drawing/2014/main" id="{81E263E9-C1D4-4D03-BE3E-F07BA60ABBF0}"/>
              </a:ext>
            </a:extLst>
          </p:cNvPr>
          <p:cNvSpPr/>
          <p:nvPr userDrawn="1"/>
        </p:nvSpPr>
        <p:spPr>
          <a:xfrm rot="16200000" flipH="1">
            <a:off x="12244399" y="3361503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19" name="Gleichschenkliges Dreieck 18">
            <a:extLst>
              <a:ext uri="{FF2B5EF4-FFF2-40B4-BE49-F238E27FC236}">
                <a16:creationId xmlns:a16="http://schemas.microsoft.com/office/drawing/2014/main" id="{81623D96-0358-4DF4-A256-747D042785CB}"/>
              </a:ext>
            </a:extLst>
          </p:cNvPr>
          <p:cNvSpPr/>
          <p:nvPr userDrawn="1"/>
        </p:nvSpPr>
        <p:spPr>
          <a:xfrm rot="16200000" flipH="1">
            <a:off x="12244399" y="6529358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0" name="Gleichschenkliges Dreieck 19">
            <a:extLst>
              <a:ext uri="{FF2B5EF4-FFF2-40B4-BE49-F238E27FC236}">
                <a16:creationId xmlns:a16="http://schemas.microsoft.com/office/drawing/2014/main" id="{C7C55FBA-3742-4008-8718-8B78BE0C0A24}"/>
              </a:ext>
            </a:extLst>
          </p:cNvPr>
          <p:cNvSpPr/>
          <p:nvPr userDrawn="1"/>
        </p:nvSpPr>
        <p:spPr>
          <a:xfrm rot="10800000">
            <a:off x="186353" y="-191929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1" name="Gleichschenkliges Dreieck 20">
            <a:extLst>
              <a:ext uri="{FF2B5EF4-FFF2-40B4-BE49-F238E27FC236}">
                <a16:creationId xmlns:a16="http://schemas.microsoft.com/office/drawing/2014/main" id="{26C99088-7BA0-4606-A3D2-927539BF0D6D}"/>
              </a:ext>
            </a:extLst>
          </p:cNvPr>
          <p:cNvSpPr/>
          <p:nvPr userDrawn="1"/>
        </p:nvSpPr>
        <p:spPr>
          <a:xfrm rot="10800000">
            <a:off x="6016605" y="-191929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2" name="Gleichschenkliges Dreieck 21">
            <a:extLst>
              <a:ext uri="{FF2B5EF4-FFF2-40B4-BE49-F238E27FC236}">
                <a16:creationId xmlns:a16="http://schemas.microsoft.com/office/drawing/2014/main" id="{F53594F3-D2C6-4E9B-B7D0-D6E6403A3DB3}"/>
              </a:ext>
            </a:extLst>
          </p:cNvPr>
          <p:cNvSpPr/>
          <p:nvPr userDrawn="1"/>
        </p:nvSpPr>
        <p:spPr>
          <a:xfrm rot="10800000">
            <a:off x="11848761" y="-191929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3" name="Gleichschenkliges Dreieck 22">
            <a:extLst>
              <a:ext uri="{FF2B5EF4-FFF2-40B4-BE49-F238E27FC236}">
                <a16:creationId xmlns:a16="http://schemas.microsoft.com/office/drawing/2014/main" id="{432007AF-2C02-4E6B-B1DB-D4B753DBFCD7}"/>
              </a:ext>
            </a:extLst>
          </p:cNvPr>
          <p:cNvSpPr/>
          <p:nvPr userDrawn="1"/>
        </p:nvSpPr>
        <p:spPr>
          <a:xfrm rot="10800000" flipV="1">
            <a:off x="186353" y="6906155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4" name="Gleichschenkliges Dreieck 23">
            <a:extLst>
              <a:ext uri="{FF2B5EF4-FFF2-40B4-BE49-F238E27FC236}">
                <a16:creationId xmlns:a16="http://schemas.microsoft.com/office/drawing/2014/main" id="{760A4C4A-51D8-4CFC-91A1-65F8713A1392}"/>
              </a:ext>
            </a:extLst>
          </p:cNvPr>
          <p:cNvSpPr/>
          <p:nvPr userDrawn="1"/>
        </p:nvSpPr>
        <p:spPr>
          <a:xfrm rot="10800000" flipV="1">
            <a:off x="6016605" y="6906155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25" name="Gleichschenkliges Dreieck 24">
            <a:extLst>
              <a:ext uri="{FF2B5EF4-FFF2-40B4-BE49-F238E27FC236}">
                <a16:creationId xmlns:a16="http://schemas.microsoft.com/office/drawing/2014/main" id="{68BCA7D6-DBCF-464C-83A5-1AEB56DB5DE2}"/>
              </a:ext>
            </a:extLst>
          </p:cNvPr>
          <p:cNvSpPr/>
          <p:nvPr userDrawn="1"/>
        </p:nvSpPr>
        <p:spPr>
          <a:xfrm rot="10800000" flipV="1">
            <a:off x="11848761" y="6906155"/>
            <a:ext cx="159106" cy="137160"/>
          </a:xfrm>
          <a:prstGeom prst="triangle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de-DE" sz="105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30" name="Titelplatzhalter 3">
            <a:extLst>
              <a:ext uri="{FF2B5EF4-FFF2-40B4-BE49-F238E27FC236}">
                <a16:creationId xmlns:a16="http://schemas.microsoft.com/office/drawing/2014/main" id="{577A48DB-A9AE-48B1-9CCC-7BECB0F8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817100" cy="1325563"/>
          </a:xfrm>
          <a:prstGeom prst="rect">
            <a:avLst/>
          </a:prstGeom>
        </p:spPr>
        <p:txBody>
          <a:bodyPr vert="horz" lIns="309600" tIns="136800" rIns="91440" bIns="45720" rtlCol="0" anchor="t" anchorCtr="0">
            <a:noAutofit/>
          </a:bodyPr>
          <a:lstStyle/>
          <a:p>
            <a:r>
              <a:rPr lang="de-DE"/>
              <a:t>Hier steht die Headline dieser Folie (Max. zwei Zeilen)</a:t>
            </a:r>
          </a:p>
        </p:txBody>
      </p:sp>
      <p:sp>
        <p:nvSpPr>
          <p:cNvPr id="36" name="Textplatzhalter 25">
            <a:extLst>
              <a:ext uri="{FF2B5EF4-FFF2-40B4-BE49-F238E27FC236}">
                <a16:creationId xmlns:a16="http://schemas.microsoft.com/office/drawing/2014/main" id="{0D9F600E-21A9-494F-AC4F-1BE229AF4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" y="1823157"/>
            <a:ext cx="11925469" cy="4351338"/>
          </a:xfrm>
          <a:prstGeom prst="rect">
            <a:avLst/>
          </a:prstGeom>
        </p:spPr>
        <p:txBody>
          <a:bodyPr vert="horz" lIns="309600" tIns="45720" rIns="91440" bIns="45720" rtlCol="0">
            <a:noAutofit/>
          </a:bodyPr>
          <a:lstStyle/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endParaRPr lang="de-DE"/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6999EEC-510D-4CF6-8114-17907E028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3768C-B536-4B14-B3AA-DE80B4B3D4D1}" type="datetime1">
              <a:rPr lang="de-DE" smtClean="0"/>
              <a:pPr/>
              <a:t>18.03.25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3AEC2DF-3CFB-4002-972D-F74D255C1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86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705" r:id="rId5"/>
    <p:sldLayoutId id="2147483723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12" r:id="rId13"/>
    <p:sldLayoutId id="2147483714" r:id="rId14"/>
    <p:sldLayoutId id="2147483715" r:id="rId15"/>
    <p:sldLayoutId id="2147483698" r:id="rId16"/>
    <p:sldLayoutId id="2147483675" r:id="rId17"/>
    <p:sldLayoutId id="2147483676" r:id="rId18"/>
    <p:sldLayoutId id="2147483677" r:id="rId19"/>
    <p:sldLayoutId id="2147483678" r:id="rId20"/>
    <p:sldLayoutId id="2147483680" r:id="rId21"/>
    <p:sldLayoutId id="2147483679" r:id="rId22"/>
    <p:sldLayoutId id="2147483702" r:id="rId23"/>
    <p:sldLayoutId id="2147483701" r:id="rId24"/>
    <p:sldLayoutId id="2147483699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728" r:id="rId34"/>
    <p:sldLayoutId id="2147483713" r:id="rId35"/>
    <p:sldLayoutId id="2147483724" r:id="rId36"/>
    <p:sldLayoutId id="2147483725" r:id="rId37"/>
    <p:sldLayoutId id="2147483726" r:id="rId38"/>
    <p:sldLayoutId id="2147483727" r:id="rId39"/>
    <p:sldLayoutId id="2147483651" r:id="rId40"/>
    <p:sldLayoutId id="2147483706" r:id="rId4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5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lang="de-DE" sz="2000" b="1" kern="1200" dirty="0" smtClean="0">
          <a:solidFill>
            <a:schemeClr val="tx2"/>
          </a:solidFill>
          <a:latin typeface="DM Office" panose="02000500000000020000" pitchFamily="2" charset="0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50000"/>
        </a:lnSpc>
        <a:spcBef>
          <a:spcPts val="0"/>
        </a:spcBef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50000"/>
        </a:lnSpc>
        <a:spcBef>
          <a:spcPts val="0"/>
        </a:spcBef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152000" indent="-288000" algn="l" defTabSz="914400" rtl="0" eaLnBrk="1" latinLnBrk="0" hangingPunct="1">
        <a:lnSpc>
          <a:spcPct val="150000"/>
        </a:lnSpc>
        <a:spcBef>
          <a:spcPts val="0"/>
        </a:spcBef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440000" indent="-288000" algn="l" defTabSz="914400" rtl="0" eaLnBrk="1" latinLnBrk="0" hangingPunct="1">
        <a:lnSpc>
          <a:spcPct val="150000"/>
        </a:lnSpc>
        <a:spcBef>
          <a:spcPts val="0"/>
        </a:spcBef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9.png"/><Relationship Id="rId5" Type="http://schemas.openxmlformats.org/officeDocument/2006/relationships/image" Target="../media/image18.tiff"/><Relationship Id="rId10" Type="http://schemas.openxmlformats.org/officeDocument/2006/relationships/image" Target="../media/image23.png"/><Relationship Id="rId4" Type="http://schemas.openxmlformats.org/officeDocument/2006/relationships/image" Target="../media/image17.tiff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si.bund.de/SharedDocs/Downloads/DE/BSI/Grundschutz/IT-GS-Kompendium_Einzel_PDFs_2023/04_OPS_Betrieb/OPS_1_1_3_Patch_und_Aenderungsmanagement_Edition_2023.pdf?__blob=publicationFile&amp;v=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26.png"/><Relationship Id="rId3" Type="http://schemas.openxmlformats.org/officeDocument/2006/relationships/image" Target="../media/image31.png"/><Relationship Id="rId7" Type="http://schemas.openxmlformats.org/officeDocument/2006/relationships/image" Target="../media/image35.jpeg"/><Relationship Id="rId12" Type="http://schemas.openxmlformats.org/officeDocument/2006/relationships/image" Target="../media/image40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jpeg"/><Relationship Id="rId10" Type="http://schemas.openxmlformats.org/officeDocument/2006/relationships/image" Target="../media/image38.png"/><Relationship Id="rId4" Type="http://schemas.openxmlformats.org/officeDocument/2006/relationships/image" Target="../media/image32.jpe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1F811E-5A0B-4FCB-8A74-A641D5D40A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Thomas Merz | 2025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D3BBA85-C8BA-4E4B-834A-D719E6F097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81375" y="3219411"/>
            <a:ext cx="8810625" cy="2015936"/>
          </a:xfrm>
        </p:spPr>
        <p:txBody>
          <a:bodyPr/>
          <a:lstStyle/>
          <a:p>
            <a:r>
              <a:rPr lang="de-DE" b="1" dirty="0" err="1">
                <a:latin typeface="DM Office" panose="02000500000000020000" pitchFamily="2" charset="77"/>
              </a:rPr>
              <a:t>Patching</a:t>
            </a:r>
            <a:r>
              <a:rPr lang="de-DE" b="1" dirty="0">
                <a:latin typeface="DM Office" panose="02000500000000020000" pitchFamily="2" charset="77"/>
              </a:rPr>
              <a:t> </a:t>
            </a:r>
            <a:r>
              <a:rPr lang="de-DE" b="1" dirty="0" err="1">
                <a:latin typeface="DM Office" panose="02000500000000020000" pitchFamily="2" charset="77"/>
              </a:rPr>
              <a:t>as</a:t>
            </a:r>
            <a:r>
              <a:rPr lang="de-DE" b="1" dirty="0">
                <a:latin typeface="DM Office" panose="02000500000000020000" pitchFamily="2" charset="77"/>
              </a:rPr>
              <a:t> a Service</a:t>
            </a:r>
          </a:p>
          <a:p>
            <a:r>
              <a:rPr lang="de-DE" b="1" dirty="0">
                <a:latin typeface="DM Office" panose="02000500000000020000" pitchFamily="2" charset="77"/>
              </a:rPr>
              <a:t>Linux Server</a:t>
            </a:r>
          </a:p>
        </p:txBody>
      </p:sp>
    </p:spTree>
    <p:extLst>
      <p:ext uri="{BB962C8B-B14F-4D97-AF65-F5344CB8AC3E}">
        <p14:creationId xmlns:p14="http://schemas.microsoft.com/office/powerpoint/2010/main" val="1141796219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4E09-7D4C-51A7-01DB-2FA5E3D4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Spoiler!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EC8A15-FC73-6E3D-A6CA-0839E14BD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B4F58-9675-4917-C9C6-230E621BC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2112438"/>
          </a:xfrm>
        </p:spPr>
        <p:txBody>
          <a:bodyPr/>
          <a:lstStyle/>
          <a:p>
            <a:r>
              <a:rPr lang="en-DE" dirty="0"/>
              <a:t>Kein Programmieren</a:t>
            </a:r>
          </a:p>
          <a:p>
            <a:r>
              <a:rPr lang="en-DE" dirty="0"/>
              <a:t>Nix mit “Cloud”, wie die Meisten(?) sie verstehen</a:t>
            </a:r>
          </a:p>
          <a:p>
            <a:r>
              <a:rPr lang="en-DE" dirty="0"/>
              <a:t>Kein “latest shit”</a:t>
            </a:r>
          </a:p>
          <a:p>
            <a:r>
              <a:rPr lang="en-DE" dirty="0"/>
              <a:t>Aber “geiler und heisser Scheiss”</a:t>
            </a:r>
          </a:p>
        </p:txBody>
      </p:sp>
    </p:spTree>
    <p:extLst>
      <p:ext uri="{BB962C8B-B14F-4D97-AF65-F5344CB8AC3E}">
        <p14:creationId xmlns:p14="http://schemas.microsoft.com/office/powerpoint/2010/main" val="427239604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BDA2-A01E-1F96-69DE-33156FC2B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whoami</a:t>
            </a:r>
            <a:endParaRPr lang="en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6D7301-C78D-2932-8057-1064039D9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6F619-67D2-62DD-8E24-35BB383F5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3970574"/>
          </a:xfrm>
        </p:spPr>
        <p:txBody>
          <a:bodyPr/>
          <a:lstStyle/>
          <a:p>
            <a:r>
              <a:rPr lang="en-DE" dirty="0"/>
              <a:t>&gt;20 Jahre bei dm</a:t>
            </a:r>
          </a:p>
          <a:p>
            <a:r>
              <a:rPr lang="en-DE" dirty="0"/>
              <a:t>Linux seit 1994 (zwischendurch mal was anderes) - seit 1991 Linux</a:t>
            </a:r>
          </a:p>
          <a:p>
            <a:r>
              <a:rPr lang="en-DE" dirty="0"/>
              <a:t>Linux Team in der (Very) Private Cloud (fka Rechenzentrum oder Data Center)</a:t>
            </a:r>
          </a:p>
          <a:p>
            <a:r>
              <a:rPr lang="en-DE" dirty="0"/>
              <a:t>Bereitstellung von Infrastruktur für das</a:t>
            </a:r>
          </a:p>
          <a:p>
            <a:pPr lvl="1"/>
            <a:r>
              <a:rPr lang="en-DE" dirty="0"/>
              <a:t>Deployment/Lifecycle</a:t>
            </a:r>
          </a:p>
          <a:p>
            <a:pPr lvl="1"/>
            <a:r>
              <a:rPr lang="en-DE" dirty="0"/>
              <a:t>Config-Management</a:t>
            </a:r>
          </a:p>
          <a:p>
            <a:pPr lvl="1"/>
            <a:r>
              <a:rPr lang="en-DE" dirty="0"/>
              <a:t>Patch-Management</a:t>
            </a:r>
          </a:p>
          <a:p>
            <a:pPr lvl="1"/>
            <a:r>
              <a:rPr lang="en-DE" dirty="0"/>
              <a:t>Monitoring</a:t>
            </a:r>
          </a:p>
          <a:p>
            <a:pPr lvl="1"/>
            <a:r>
              <a:rPr lang="en-DE" dirty="0"/>
              <a:t>von Linux </a:t>
            </a:r>
            <a:r>
              <a:rPr lang="en-DE" u="sng" dirty="0"/>
              <a:t>Servern</a:t>
            </a:r>
            <a:r>
              <a:rPr lang="en-DE" dirty="0"/>
              <a:t> (RHEL und SLES; VMs </a:t>
            </a:r>
            <a:r>
              <a:rPr lang="en-GB" dirty="0"/>
              <a:t>u</a:t>
            </a:r>
            <a:r>
              <a:rPr lang="en-DE" dirty="0"/>
              <a:t>nd Hardware)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2F75C9-6E51-F3A0-D115-C550BF871387}"/>
              </a:ext>
            </a:extLst>
          </p:cNvPr>
          <p:cNvGrpSpPr/>
          <p:nvPr/>
        </p:nvGrpSpPr>
        <p:grpSpPr>
          <a:xfrm>
            <a:off x="7419259" y="3132164"/>
            <a:ext cx="3478510" cy="2760523"/>
            <a:chOff x="6829884" y="2123768"/>
            <a:chExt cx="3478510" cy="2760523"/>
          </a:xfrm>
        </p:grpSpPr>
        <p:pic>
          <p:nvPicPr>
            <p:cNvPr id="5" name="Picture 12" descr="VMware vSphere 5.1 Yayınlandı – Sina TABANLIOĞLU">
              <a:extLst>
                <a:ext uri="{FF2B5EF4-FFF2-40B4-BE49-F238E27FC236}">
                  <a16:creationId xmlns:a16="http://schemas.microsoft.com/office/drawing/2014/main" id="{10AFD3FA-631F-EAAC-BE74-EB8798B357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1211" y="4204270"/>
              <a:ext cx="1210257" cy="680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0" descr="Kostenlose Vektorgrafik: Computer, Server, Arbeitsplatz ...">
              <a:extLst>
                <a:ext uri="{FF2B5EF4-FFF2-40B4-BE49-F238E27FC236}">
                  <a16:creationId xmlns:a16="http://schemas.microsoft.com/office/drawing/2014/main" id="{7C784685-769B-4379-008F-A2CA6AAA4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9884" y="4035239"/>
              <a:ext cx="670817" cy="814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8AA9981-79BB-7623-F896-EFFE0D9FF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31978" y="4202948"/>
              <a:ext cx="620037" cy="63011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116FB01-5D1A-BB97-E8DC-63C4B814E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95176" y="3935777"/>
              <a:ext cx="695652" cy="897290"/>
            </a:xfrm>
            <a:prstGeom prst="rect">
              <a:avLst/>
            </a:prstGeom>
          </p:spPr>
        </p:pic>
        <p:pic>
          <p:nvPicPr>
            <p:cNvPr id="9" name="Picture 2" descr="LAN-Monitor.de – Seite 2 – Netzwerk, Monitoring und OpenSource">
              <a:extLst>
                <a:ext uri="{FF2B5EF4-FFF2-40B4-BE49-F238E27FC236}">
                  <a16:creationId xmlns:a16="http://schemas.microsoft.com/office/drawing/2014/main" id="{1D195B43-F0CD-0987-B1D0-A8F495E592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9998" y="2922717"/>
              <a:ext cx="778396" cy="720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beats logo">
              <a:extLst>
                <a:ext uri="{FF2B5EF4-FFF2-40B4-BE49-F238E27FC236}">
                  <a16:creationId xmlns:a16="http://schemas.microsoft.com/office/drawing/2014/main" id="{D845650B-75B7-DAF3-8C84-868E07A6C2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6087" y="2382986"/>
              <a:ext cx="2103390" cy="1800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puppet">
              <a:extLst>
                <a:ext uri="{FF2B5EF4-FFF2-40B4-BE49-F238E27FC236}">
                  <a16:creationId xmlns:a16="http://schemas.microsoft.com/office/drawing/2014/main" id="{C4809205-48AE-9ACB-4EBA-98C8D47284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0009" y="2123768"/>
              <a:ext cx="779187" cy="779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12" descr="A picture containing sketch, drawing, illustration, cartoon&#10;&#10;Description automatically generated">
            <a:extLst>
              <a:ext uri="{FF2B5EF4-FFF2-40B4-BE49-F238E27FC236}">
                <a16:creationId xmlns:a16="http://schemas.microsoft.com/office/drawing/2014/main" id="{F00B03D1-BAB4-A0F5-2E63-0F0847BC6F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086" y="305103"/>
            <a:ext cx="845088" cy="845088"/>
          </a:xfrm>
          <a:prstGeom prst="rect">
            <a:avLst/>
          </a:prstGeom>
        </p:spPr>
      </p:pic>
      <p:pic>
        <p:nvPicPr>
          <p:cNvPr id="14" name="Picture 2" descr="abimelechbeutelbilch">
            <a:extLst>
              <a:ext uri="{FF2B5EF4-FFF2-40B4-BE49-F238E27FC236}">
                <a16:creationId xmlns:a16="http://schemas.microsoft.com/office/drawing/2014/main" id="{329FBC55-7AB8-94F0-6D32-5ECCD2FBF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031" y="301496"/>
            <a:ext cx="842738" cy="842738"/>
          </a:xfrm>
          <a:prstGeom prst="rect">
            <a:avLst/>
          </a:prstGeom>
          <a:noFill/>
          <a:effectLst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77164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D0F2E6-F063-EB88-8461-71278E50BC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26971" y="3296355"/>
            <a:ext cx="8665029" cy="1938992"/>
          </a:xfrm>
        </p:spPr>
        <p:txBody>
          <a:bodyPr/>
          <a:lstStyle/>
          <a:p>
            <a:r>
              <a:rPr lang="en-DE" dirty="0"/>
              <a:t>Herausforderungen und wie man sie meistert…</a:t>
            </a:r>
          </a:p>
        </p:txBody>
      </p:sp>
    </p:spTree>
    <p:extLst>
      <p:ext uri="{BB962C8B-B14F-4D97-AF65-F5344CB8AC3E}">
        <p14:creationId xmlns:p14="http://schemas.microsoft.com/office/powerpoint/2010/main" val="3602153036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E0AF-1DF2-6E97-CB65-D9C29240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</a:t>
            </a:r>
            <a:r>
              <a:rPr lang="en-GB" dirty="0" err="1"/>
              <a:t>Verschiedene</a:t>
            </a:r>
            <a:r>
              <a:rPr lang="en-GB" dirty="0"/>
              <a:t> L</a:t>
            </a:r>
            <a:r>
              <a:rPr lang="en-DE" dirty="0"/>
              <a:t>inuxe u. Anwendungen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FF865-AB49-7D53-B13D-E895A5B4B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2E916-D45B-31C8-030A-9378D33BE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590" y="1282404"/>
            <a:ext cx="3778787" cy="5117106"/>
          </a:xfrm>
        </p:spPr>
        <p:txBody>
          <a:bodyPr/>
          <a:lstStyle/>
          <a:p>
            <a:r>
              <a:rPr lang="en-GB" dirty="0"/>
              <a:t>D</a:t>
            </a:r>
            <a:r>
              <a:rPr lang="en-DE" dirty="0"/>
              <a:t>istributionen</a:t>
            </a:r>
          </a:p>
          <a:p>
            <a:pPr lvl="1"/>
            <a:r>
              <a:rPr lang="en-DE" dirty="0"/>
              <a:t>RHEL</a:t>
            </a:r>
          </a:p>
          <a:p>
            <a:pPr lvl="1"/>
            <a:r>
              <a:rPr lang="en-DE" dirty="0"/>
              <a:t>SLES</a:t>
            </a:r>
          </a:p>
          <a:p>
            <a:r>
              <a:rPr lang="en-GB" dirty="0"/>
              <a:t>M</a:t>
            </a:r>
            <a:r>
              <a:rPr lang="en-DE" dirty="0"/>
              <a:t>ajor versions</a:t>
            </a:r>
          </a:p>
          <a:p>
            <a:pPr lvl="1"/>
            <a:r>
              <a:rPr lang="en-DE" dirty="0"/>
              <a:t>7, 8 und 9 + EUS</a:t>
            </a:r>
          </a:p>
          <a:p>
            <a:pPr lvl="1"/>
            <a:r>
              <a:rPr lang="en-DE" dirty="0"/>
              <a:t>12 und 15 + SP</a:t>
            </a:r>
          </a:p>
          <a:p>
            <a:r>
              <a:rPr lang="en-GB" dirty="0" err="1"/>
              <a:t>Paketmanager</a:t>
            </a:r>
            <a:endParaRPr lang="en-GB" dirty="0"/>
          </a:p>
          <a:p>
            <a:pPr lvl="1"/>
            <a:r>
              <a:rPr lang="en-GB" dirty="0"/>
              <a:t>yum, </a:t>
            </a:r>
            <a:r>
              <a:rPr lang="en-GB" dirty="0" err="1"/>
              <a:t>dnf</a:t>
            </a:r>
            <a:endParaRPr lang="en-GB" dirty="0"/>
          </a:p>
          <a:p>
            <a:pPr lvl="1"/>
            <a:r>
              <a:rPr lang="en-GB" dirty="0" err="1"/>
              <a:t>zypper</a:t>
            </a:r>
            <a:endParaRPr lang="en-GB" dirty="0"/>
          </a:p>
          <a:p>
            <a:r>
              <a:rPr lang="en-GB" dirty="0"/>
              <a:t>Ca. 90% VMs und 10% HW</a:t>
            </a:r>
          </a:p>
          <a:p>
            <a:r>
              <a:rPr lang="en-GB" dirty="0"/>
              <a:t>Peak: ca. 5000 Server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C9350A85-4A9E-74F0-7A0C-41AAED72B368}"/>
              </a:ext>
            </a:extLst>
          </p:cNvPr>
          <p:cNvSpPr txBox="1">
            <a:spLocks/>
          </p:cNvSpPr>
          <p:nvPr/>
        </p:nvSpPr>
        <p:spPr>
          <a:xfrm>
            <a:off x="5726934" y="1282404"/>
            <a:ext cx="5113664" cy="5232458"/>
          </a:xfrm>
          <a:prstGeom prst="rect">
            <a:avLst/>
          </a:prstGeom>
        </p:spPr>
        <p:txBody>
          <a:bodyPr vert="horz" wrap="square" lIns="248400" tIns="45720" rIns="91440" bIns="4572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 lang="de-DE" sz="2000" b="1" kern="1200">
                <a:solidFill>
                  <a:schemeClr val="tx2"/>
                </a:solidFill>
                <a:latin typeface="DM Office" panose="02000500000000020000" pitchFamily="2" charset="0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52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40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</a:t>
            </a:r>
            <a:r>
              <a:rPr lang="en-DE" dirty="0"/>
              <a:t>nwendungen!</a:t>
            </a:r>
          </a:p>
          <a:p>
            <a:pPr lvl="1"/>
            <a:r>
              <a:rPr lang="en-DE" dirty="0"/>
              <a:t>SAP</a:t>
            </a:r>
          </a:p>
          <a:p>
            <a:pPr lvl="1"/>
            <a:r>
              <a:rPr lang="en-DE" dirty="0"/>
              <a:t>DWH</a:t>
            </a:r>
          </a:p>
          <a:p>
            <a:pPr lvl="1"/>
            <a:r>
              <a:rPr lang="en-DE" dirty="0"/>
              <a:t>Hadoop</a:t>
            </a:r>
          </a:p>
          <a:p>
            <a:pPr lvl="1"/>
            <a:r>
              <a:rPr lang="en-DE" dirty="0"/>
              <a:t>Datenbanken…</a:t>
            </a:r>
          </a:p>
          <a:p>
            <a:pPr lvl="1"/>
            <a:r>
              <a:rPr lang="en-DE" dirty="0"/>
              <a:t>Materialflussrechner</a:t>
            </a:r>
          </a:p>
          <a:p>
            <a:pPr lvl="1"/>
            <a:r>
              <a:rPr lang="en-DE" dirty="0"/>
              <a:t>Druckserver</a:t>
            </a:r>
          </a:p>
          <a:p>
            <a:pPr lvl="1"/>
            <a:r>
              <a:rPr lang="en-DE" dirty="0"/>
              <a:t>SFTP</a:t>
            </a:r>
          </a:p>
          <a:p>
            <a:pPr lvl="1"/>
            <a:r>
              <a:rPr lang="en-DE" dirty="0"/>
              <a:t>ELK</a:t>
            </a:r>
          </a:p>
          <a:p>
            <a:pPr lvl="1"/>
            <a:r>
              <a:rPr lang="en-DE" dirty="0"/>
              <a:t>Backupserver</a:t>
            </a:r>
          </a:p>
          <a:p>
            <a:pPr lvl="1"/>
            <a:r>
              <a:rPr lang="en-DE" dirty="0"/>
              <a:t>Quorumnodes</a:t>
            </a:r>
          </a:p>
          <a:p>
            <a:pPr lvl="1"/>
            <a:r>
              <a:rPr lang="en-DE" dirty="0"/>
              <a:t>OTP für VPN</a:t>
            </a:r>
          </a:p>
          <a:p>
            <a:pPr lvl="1"/>
            <a:r>
              <a:rPr lang="en-GB" dirty="0"/>
              <a:t>E</a:t>
            </a:r>
            <a:r>
              <a:rPr lang="en-DE" dirty="0"/>
              <a:t>igene Tools</a:t>
            </a:r>
          </a:p>
          <a:p>
            <a:pPr lvl="1"/>
            <a:r>
              <a:rPr lang="en-DE" dirty="0"/>
              <a:t>Infrastruktur für Betrieb der Linux Server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C0D12-3F33-D2EC-13EF-20E6C8296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108" y="1697355"/>
            <a:ext cx="770173" cy="7826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FBF9DF-2429-4E0E-EC52-6A43873C9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281" y="1386254"/>
            <a:ext cx="864096" cy="111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377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2C73D-1098-3497-F222-5393D8111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24D74-EAF7-C104-147C-EA873095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2. </a:t>
            </a:r>
            <a:r>
              <a:rPr lang="en-DE" u="sng" dirty="0"/>
              <a:t>Wann</a:t>
            </a:r>
            <a:r>
              <a:rPr lang="en-DE" dirty="0"/>
              <a:t> patchen?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26209-1C73-DD3D-D029-67C851F89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2D9A3-58A6-5C60-89B3-51B4D85DA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590" y="1282404"/>
            <a:ext cx="4518919" cy="4901663"/>
          </a:xfrm>
        </p:spPr>
        <p:txBody>
          <a:bodyPr/>
          <a:lstStyle/>
          <a:p>
            <a:r>
              <a:rPr lang="en-GB" dirty="0"/>
              <a:t>“As soon as ASAP?” 🤷</a:t>
            </a:r>
          </a:p>
          <a:p>
            <a:r>
              <a:rPr lang="en-GB" dirty="0" err="1"/>
              <a:t>Wöchentlich</a:t>
            </a:r>
            <a:r>
              <a:rPr lang="en-GB" dirty="0"/>
              <a:t>?</a:t>
            </a:r>
          </a:p>
          <a:p>
            <a:r>
              <a:rPr lang="en-GB" dirty="0" err="1"/>
              <a:t>Monatlich</a:t>
            </a:r>
            <a:r>
              <a:rPr lang="en-GB" dirty="0"/>
              <a:t>?</a:t>
            </a:r>
          </a:p>
          <a:p>
            <a:r>
              <a:rPr lang="en-GB" dirty="0" err="1"/>
              <a:t>Quartalsweise</a:t>
            </a:r>
            <a:r>
              <a:rPr lang="en-GB" dirty="0"/>
              <a:t>?</a:t>
            </a:r>
          </a:p>
          <a:p>
            <a:r>
              <a:rPr lang="en-GB" dirty="0"/>
              <a:t>Aus </a:t>
            </a:r>
            <a:r>
              <a:rPr lang="en-GB" dirty="0" err="1"/>
              <a:t>Verzweiflung</a:t>
            </a:r>
            <a:r>
              <a:rPr lang="en-GB" dirty="0"/>
              <a:t>: Gar </a:t>
            </a:r>
            <a:r>
              <a:rPr lang="en-GB" dirty="0" err="1"/>
              <a:t>nicht</a:t>
            </a:r>
            <a:r>
              <a:rPr lang="en-GB" dirty="0"/>
              <a:t>? </a:t>
            </a:r>
            <a:r>
              <a:rPr lang="en-GB" dirty="0">
                <a:sym typeface="Wingdings" pitchFamily="2" charset="2"/>
              </a:rPr>
              <a:t></a:t>
            </a:r>
          </a:p>
          <a:p>
            <a:br>
              <a:rPr lang="en-GB" dirty="0"/>
            </a:br>
            <a:r>
              <a:rPr lang="en-GB" dirty="0"/>
              <a:t>BSI </a:t>
            </a:r>
            <a:r>
              <a:rPr lang="en-GB" dirty="0" err="1"/>
              <a:t>gibt</a:t>
            </a:r>
            <a:r>
              <a:rPr lang="en-GB" dirty="0"/>
              <a:t> </a:t>
            </a:r>
            <a:r>
              <a:rPr lang="en-GB" dirty="0" err="1"/>
              <a:t>Hinweise</a:t>
            </a:r>
            <a:r>
              <a:rPr lang="en-GB" dirty="0"/>
              <a:t>:</a:t>
            </a:r>
          </a:p>
          <a:p>
            <a:r>
              <a:rPr lang="en-GB" dirty="0">
                <a:hlinkClick r:id="rId3"/>
              </a:rPr>
              <a:t>OPS.1.1.3 Patch- und   Änderungsmanagement</a:t>
            </a:r>
            <a:endParaRPr lang="en-GB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7FD56DB-22F4-C624-762C-DF114DFA06BB}"/>
              </a:ext>
            </a:extLst>
          </p:cNvPr>
          <p:cNvSpPr txBox="1">
            <a:spLocks/>
          </p:cNvSpPr>
          <p:nvPr/>
        </p:nvSpPr>
        <p:spPr>
          <a:xfrm>
            <a:off x="5726934" y="1282404"/>
            <a:ext cx="5113664" cy="4836196"/>
          </a:xfrm>
          <a:prstGeom prst="rect">
            <a:avLst/>
          </a:prstGeom>
        </p:spPr>
        <p:txBody>
          <a:bodyPr vert="horz" wrap="square" lIns="248400" tIns="45720" rIns="91440" bIns="4572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prstClr val="white"/>
              </a:buClr>
              <a:buSzTx/>
              <a:buFontTx/>
              <a:buNone/>
              <a:tabLst/>
              <a:defRPr lang="de-DE" sz="2000" b="1" kern="1200">
                <a:solidFill>
                  <a:schemeClr val="tx2"/>
                </a:solidFill>
                <a:latin typeface="DM Office" panose="02000500000000020000" pitchFamily="2" charset="0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52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40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“OPS.1.1.3.A15 </a:t>
            </a:r>
            <a:r>
              <a:rPr lang="en-GB" sz="1400" dirty="0" err="1"/>
              <a:t>Regelmäßige</a:t>
            </a:r>
            <a:r>
              <a:rPr lang="en-GB" sz="1400" dirty="0"/>
              <a:t> </a:t>
            </a:r>
            <a:r>
              <a:rPr lang="en-GB" sz="1400" dirty="0" err="1"/>
              <a:t>Aktualisierung</a:t>
            </a:r>
            <a:r>
              <a:rPr lang="en-GB" sz="1400" dirty="0"/>
              <a:t> von IT-</a:t>
            </a:r>
            <a:r>
              <a:rPr lang="en-GB" sz="1400" dirty="0" err="1"/>
              <a:t>Systemen</a:t>
            </a:r>
            <a:r>
              <a:rPr lang="en-GB" sz="1400" dirty="0"/>
              <a:t> und Software (B)</a:t>
            </a:r>
          </a:p>
          <a:p>
            <a:r>
              <a:rPr lang="en-GB" sz="1400" dirty="0"/>
              <a:t>IT-</a:t>
            </a:r>
            <a:r>
              <a:rPr lang="en-GB" sz="1400" dirty="0" err="1"/>
              <a:t>Systeme</a:t>
            </a:r>
            <a:r>
              <a:rPr lang="en-GB" sz="1400" dirty="0"/>
              <a:t> und Software SOLLTEN </a:t>
            </a:r>
            <a:r>
              <a:rPr lang="en-GB" sz="1400" u="sng" dirty="0" err="1">
                <a:highlight>
                  <a:srgbClr val="FFFF00"/>
                </a:highlight>
              </a:rPr>
              <a:t>regelmäßig</a:t>
            </a:r>
            <a:r>
              <a:rPr lang="en-GB" sz="1400" dirty="0"/>
              <a:t> </a:t>
            </a:r>
            <a:r>
              <a:rPr lang="en-GB" sz="1400" dirty="0" err="1"/>
              <a:t>aktualisiert</a:t>
            </a:r>
            <a:r>
              <a:rPr lang="en-GB" sz="1400" dirty="0"/>
              <a:t> </a:t>
            </a:r>
            <a:r>
              <a:rPr lang="en-GB" sz="1400" dirty="0" err="1"/>
              <a:t>werden</a:t>
            </a:r>
            <a:r>
              <a:rPr lang="en-GB" sz="1400" dirty="0"/>
              <a:t>.</a:t>
            </a:r>
          </a:p>
          <a:p>
            <a:r>
              <a:rPr lang="en-GB" sz="1400" dirty="0" err="1"/>
              <a:t>Grundsätzlich</a:t>
            </a:r>
            <a:r>
              <a:rPr lang="en-GB" sz="1400" dirty="0"/>
              <a:t> SOLLTEN Patches </a:t>
            </a:r>
            <a:r>
              <a:rPr lang="en-GB" sz="1400" u="sng" dirty="0" err="1">
                <a:highlight>
                  <a:srgbClr val="FFFF00"/>
                </a:highlight>
              </a:rPr>
              <a:t>zeitnah</a:t>
            </a:r>
            <a:r>
              <a:rPr lang="en-GB" sz="1400" dirty="0"/>
              <a:t> </a:t>
            </a:r>
            <a:r>
              <a:rPr lang="en-GB" sz="1400" dirty="0" err="1"/>
              <a:t>nach</a:t>
            </a:r>
            <a:r>
              <a:rPr lang="en-GB" sz="1400" dirty="0"/>
              <a:t> </a:t>
            </a:r>
            <a:r>
              <a:rPr lang="en-GB" sz="1400" dirty="0" err="1"/>
              <a:t>Veröffentlichung</a:t>
            </a:r>
            <a:r>
              <a:rPr lang="en-GB" sz="1400" dirty="0"/>
              <a:t> </a:t>
            </a:r>
            <a:r>
              <a:rPr lang="en-GB" sz="1400" dirty="0" err="1"/>
              <a:t>eingespielt</a:t>
            </a:r>
            <a:r>
              <a:rPr lang="en-GB" sz="1400" dirty="0"/>
              <a:t> </a:t>
            </a:r>
            <a:r>
              <a:rPr lang="en-GB" sz="1400" dirty="0" err="1"/>
              <a:t>werden</a:t>
            </a:r>
            <a:r>
              <a:rPr lang="en-GB" sz="1400" dirty="0"/>
              <a:t>. </a:t>
            </a:r>
            <a:r>
              <a:rPr lang="en-GB" sz="1400" dirty="0" err="1"/>
              <a:t>Basierend</a:t>
            </a:r>
            <a:r>
              <a:rPr lang="en-GB" sz="1400" dirty="0"/>
              <a:t> auf </a:t>
            </a:r>
            <a:r>
              <a:rPr lang="en-GB" sz="1400" dirty="0" err="1"/>
              <a:t>dem</a:t>
            </a:r>
            <a:r>
              <a:rPr lang="en-GB" sz="1400" dirty="0"/>
              <a:t> </a:t>
            </a:r>
            <a:r>
              <a:rPr lang="en-GB" sz="1400" dirty="0" err="1"/>
              <a:t>Konzept</a:t>
            </a:r>
            <a:r>
              <a:rPr lang="en-GB" sz="1400" dirty="0"/>
              <a:t> für das Patch- und </a:t>
            </a:r>
            <a:r>
              <a:rPr lang="en-GB" sz="1400" dirty="0" err="1"/>
              <a:t>Änderungsmanagement</a:t>
            </a:r>
            <a:r>
              <a:rPr lang="en-GB" sz="1400" dirty="0"/>
              <a:t> MÜSSEN Patches </a:t>
            </a:r>
            <a:r>
              <a:rPr lang="en-GB" sz="1400" dirty="0" err="1">
                <a:highlight>
                  <a:srgbClr val="FFFF00"/>
                </a:highlight>
              </a:rPr>
              <a:t>zeitnah</a:t>
            </a:r>
            <a:r>
              <a:rPr lang="en-GB" sz="1400" dirty="0"/>
              <a:t> </a:t>
            </a:r>
            <a:r>
              <a:rPr lang="en-GB" sz="1400" dirty="0" err="1"/>
              <a:t>nach</a:t>
            </a:r>
            <a:r>
              <a:rPr lang="en-GB" sz="1400" dirty="0"/>
              <a:t> </a:t>
            </a:r>
            <a:r>
              <a:rPr lang="en-GB" sz="1400" dirty="0" err="1"/>
              <a:t>Veröffentlichung</a:t>
            </a:r>
            <a:r>
              <a:rPr lang="en-GB" sz="1400" dirty="0"/>
              <a:t> </a:t>
            </a:r>
            <a:r>
              <a:rPr lang="en-GB" sz="1400" dirty="0" err="1"/>
              <a:t>bewertet</a:t>
            </a:r>
            <a:r>
              <a:rPr lang="en-GB" sz="1400" dirty="0"/>
              <a:t> und </a:t>
            </a:r>
            <a:r>
              <a:rPr lang="en-GB" sz="1400" dirty="0" err="1"/>
              <a:t>entsprechend</a:t>
            </a:r>
            <a:r>
              <a:rPr lang="en-GB" sz="1400" dirty="0"/>
              <a:t> </a:t>
            </a:r>
            <a:r>
              <a:rPr lang="en-GB" sz="1400" dirty="0" err="1">
                <a:highlight>
                  <a:srgbClr val="FFFF00"/>
                </a:highlight>
              </a:rPr>
              <a:t>priorisiert</a:t>
            </a:r>
            <a:r>
              <a:rPr lang="en-GB" sz="1400" dirty="0"/>
              <a:t> </a:t>
            </a:r>
            <a:r>
              <a:rPr lang="en-GB" sz="1400" dirty="0" err="1"/>
              <a:t>werden</a:t>
            </a:r>
            <a:r>
              <a:rPr lang="en-GB" sz="1400" dirty="0"/>
              <a:t>. Für die </a:t>
            </a:r>
            <a:r>
              <a:rPr lang="en-GB" sz="1400" dirty="0" err="1"/>
              <a:t>Bewertung</a:t>
            </a:r>
            <a:r>
              <a:rPr lang="en-GB" sz="1400" dirty="0"/>
              <a:t> SOLLTE </a:t>
            </a:r>
            <a:r>
              <a:rPr lang="en-GB" sz="1400" dirty="0" err="1"/>
              <a:t>geprüft</a:t>
            </a:r>
            <a:r>
              <a:rPr lang="en-GB" sz="1400" dirty="0"/>
              <a:t> </a:t>
            </a:r>
            <a:r>
              <a:rPr lang="en-GB" sz="1400" dirty="0" err="1"/>
              <a:t>werden</a:t>
            </a:r>
            <a:r>
              <a:rPr lang="en-GB" sz="1400" dirty="0"/>
              <a:t>, </a:t>
            </a:r>
            <a:r>
              <a:rPr lang="en-GB" sz="1400" dirty="0" err="1"/>
              <a:t>ob</a:t>
            </a:r>
            <a:r>
              <a:rPr lang="en-GB" sz="1400" dirty="0"/>
              <a:t> es </a:t>
            </a:r>
            <a:r>
              <a:rPr lang="en-GB" sz="1400" dirty="0" err="1"/>
              <a:t>zu</a:t>
            </a:r>
            <a:r>
              <a:rPr lang="en-GB" sz="1400" dirty="0"/>
              <a:t> </a:t>
            </a:r>
            <a:r>
              <a:rPr lang="en-GB" sz="1400" dirty="0" err="1"/>
              <a:t>diesem</a:t>
            </a:r>
            <a:r>
              <a:rPr lang="en-GB" sz="1400" dirty="0"/>
              <a:t> Patch </a:t>
            </a:r>
            <a:r>
              <a:rPr lang="en-GB" sz="1400" dirty="0" err="1"/>
              <a:t>bekannte</a:t>
            </a:r>
            <a:r>
              <a:rPr lang="en-GB" sz="1400" dirty="0"/>
              <a:t> </a:t>
            </a:r>
            <a:r>
              <a:rPr lang="en-GB" sz="1400" dirty="0" err="1"/>
              <a:t>Schwachstellen</a:t>
            </a:r>
            <a:r>
              <a:rPr lang="en-GB" sz="1400" dirty="0"/>
              <a:t> </a:t>
            </a:r>
            <a:r>
              <a:rPr lang="en-GB" sz="1400" dirty="0" err="1"/>
              <a:t>gibt</a:t>
            </a:r>
            <a:r>
              <a:rPr lang="en-GB" sz="1400" dirty="0"/>
              <a:t>. Es MUSS </a:t>
            </a:r>
            <a:r>
              <a:rPr lang="en-GB" sz="1400" dirty="0" err="1"/>
              <a:t>entschieden</a:t>
            </a:r>
            <a:r>
              <a:rPr lang="en-GB" sz="1400" dirty="0"/>
              <a:t> </a:t>
            </a:r>
            <a:r>
              <a:rPr lang="en-GB" sz="1400" dirty="0" err="1"/>
              <a:t>werden</a:t>
            </a:r>
            <a:r>
              <a:rPr lang="en-GB" sz="1400" dirty="0"/>
              <a:t>, </a:t>
            </a:r>
            <a:r>
              <a:rPr lang="en-GB" sz="1400" dirty="0" err="1"/>
              <a:t>ob</a:t>
            </a:r>
            <a:r>
              <a:rPr lang="en-GB" sz="1400" dirty="0"/>
              <a:t> der Patch </a:t>
            </a:r>
            <a:r>
              <a:rPr lang="en-GB" sz="1400" dirty="0" err="1"/>
              <a:t>eingespielt</a:t>
            </a:r>
            <a:r>
              <a:rPr lang="en-GB" sz="1400" dirty="0"/>
              <a:t> </a:t>
            </a:r>
            <a:r>
              <a:rPr lang="en-GB" sz="1400" dirty="0" err="1"/>
              <a:t>werden</a:t>
            </a:r>
            <a:r>
              <a:rPr lang="en-GB" sz="1400" dirty="0"/>
              <a:t> </a:t>
            </a:r>
            <a:r>
              <a:rPr lang="en-GB" sz="1400" dirty="0" err="1"/>
              <a:t>soll</a:t>
            </a:r>
            <a:r>
              <a:rPr lang="en-GB" sz="1400" dirty="0"/>
              <a:t>. Wenn </a:t>
            </a:r>
            <a:r>
              <a:rPr lang="en-GB" sz="1400" dirty="0" err="1"/>
              <a:t>ein</a:t>
            </a:r>
            <a:r>
              <a:rPr lang="en-GB" sz="1400" dirty="0"/>
              <a:t> Patch </a:t>
            </a:r>
            <a:r>
              <a:rPr lang="en-GB" sz="1400" dirty="0" err="1"/>
              <a:t>eingespielt</a:t>
            </a:r>
            <a:r>
              <a:rPr lang="en-GB" sz="1400" dirty="0"/>
              <a:t> </a:t>
            </a:r>
            <a:r>
              <a:rPr lang="en-GB" sz="1400" dirty="0" err="1"/>
              <a:t>wird</a:t>
            </a:r>
            <a:r>
              <a:rPr lang="en-GB" sz="1400" dirty="0"/>
              <a:t>, SOLLTE </a:t>
            </a:r>
            <a:r>
              <a:rPr lang="en-GB" sz="1400" dirty="0" err="1"/>
              <a:t>kontrolliert</a:t>
            </a:r>
            <a:r>
              <a:rPr lang="en-GB" sz="1400" dirty="0"/>
              <a:t> </a:t>
            </a:r>
            <a:r>
              <a:rPr lang="en-GB" sz="1400" dirty="0" err="1"/>
              <a:t>werden</a:t>
            </a:r>
            <a:r>
              <a:rPr lang="en-GB" sz="1400" dirty="0"/>
              <a:t>, </a:t>
            </a:r>
            <a:r>
              <a:rPr lang="en-GB" sz="1400" dirty="0" err="1"/>
              <a:t>ob</a:t>
            </a:r>
            <a:r>
              <a:rPr lang="en-GB" sz="1400" dirty="0"/>
              <a:t> </a:t>
            </a:r>
            <a:r>
              <a:rPr lang="en-GB" sz="1400" dirty="0" err="1"/>
              <a:t>dieser</a:t>
            </a:r>
            <a:r>
              <a:rPr lang="en-GB" sz="1400" dirty="0"/>
              <a:t> auf </a:t>
            </a:r>
            <a:r>
              <a:rPr lang="en-GB" sz="1400" dirty="0" err="1"/>
              <a:t>allen</a:t>
            </a:r>
            <a:r>
              <a:rPr lang="en-GB" sz="1400" dirty="0"/>
              <a:t> </a:t>
            </a:r>
            <a:r>
              <a:rPr lang="en-GB" sz="1400" dirty="0" err="1"/>
              <a:t>relevanten</a:t>
            </a:r>
            <a:r>
              <a:rPr lang="en-GB" sz="1400" dirty="0"/>
              <a:t> </a:t>
            </a:r>
            <a:r>
              <a:rPr lang="en-GB" sz="1400" dirty="0" err="1"/>
              <a:t>Systemen</a:t>
            </a:r>
            <a:r>
              <a:rPr lang="en-GB" sz="1400" dirty="0"/>
              <a:t> </a:t>
            </a:r>
            <a:r>
              <a:rPr lang="en-GB" sz="1400" dirty="0" err="1"/>
              <a:t>zeitnah</a:t>
            </a:r>
            <a:r>
              <a:rPr lang="en-GB" sz="1400" dirty="0"/>
              <a:t> </a:t>
            </a:r>
            <a:r>
              <a:rPr lang="en-GB" sz="1400" dirty="0" err="1"/>
              <a:t>erfolgreich</a:t>
            </a:r>
            <a:r>
              <a:rPr lang="en-GB" sz="1400" dirty="0"/>
              <a:t> </a:t>
            </a:r>
            <a:r>
              <a:rPr lang="en-GB" sz="1400" dirty="0" err="1"/>
              <a:t>eingespielt</a:t>
            </a:r>
            <a:r>
              <a:rPr lang="en-GB" sz="1400" dirty="0"/>
              <a:t> </a:t>
            </a:r>
            <a:r>
              <a:rPr lang="en-GB" sz="1400" dirty="0" err="1"/>
              <a:t>wurde</a:t>
            </a:r>
            <a:r>
              <a:rPr lang="en-GB" sz="1400" dirty="0"/>
              <a:t>. Wenn </a:t>
            </a:r>
            <a:r>
              <a:rPr lang="en-GB" sz="1400" dirty="0" err="1"/>
              <a:t>ein</a:t>
            </a:r>
            <a:r>
              <a:rPr lang="en-GB" sz="1400" dirty="0"/>
              <a:t> Patch </a:t>
            </a:r>
            <a:r>
              <a:rPr lang="en-GB" sz="1400" dirty="0" err="1"/>
              <a:t>nicht</a:t>
            </a:r>
            <a:r>
              <a:rPr lang="en-GB" sz="1400" dirty="0"/>
              <a:t> </a:t>
            </a:r>
            <a:r>
              <a:rPr lang="en-GB" sz="1400" dirty="0" err="1"/>
              <a:t>eingespielt</a:t>
            </a:r>
            <a:r>
              <a:rPr lang="en-GB" sz="1400" dirty="0"/>
              <a:t> </a:t>
            </a:r>
            <a:r>
              <a:rPr lang="en-GB" sz="1400" dirty="0" err="1"/>
              <a:t>wird</a:t>
            </a:r>
            <a:r>
              <a:rPr lang="en-GB" sz="1400" dirty="0"/>
              <a:t>, MÜSSEN die </a:t>
            </a:r>
            <a:r>
              <a:rPr lang="en-GB" sz="1400" dirty="0" err="1"/>
              <a:t>Entscheidung</a:t>
            </a:r>
            <a:r>
              <a:rPr lang="en-GB" sz="1400" dirty="0"/>
              <a:t> und die </a:t>
            </a:r>
            <a:r>
              <a:rPr lang="en-GB" sz="1400" dirty="0" err="1"/>
              <a:t>Gründe</a:t>
            </a:r>
            <a:r>
              <a:rPr lang="en-GB" sz="1400" dirty="0"/>
              <a:t> </a:t>
            </a:r>
            <a:r>
              <a:rPr lang="en-GB" sz="1400" dirty="0" err="1"/>
              <a:t>dafür</a:t>
            </a:r>
            <a:r>
              <a:rPr lang="en-GB" sz="1400" dirty="0"/>
              <a:t> </a:t>
            </a:r>
            <a:r>
              <a:rPr lang="en-GB" sz="1400" dirty="0" err="1"/>
              <a:t>dokumentiert</a:t>
            </a:r>
            <a:r>
              <a:rPr lang="en-GB" sz="1400" dirty="0"/>
              <a:t> </a:t>
            </a:r>
            <a:r>
              <a:rPr lang="en-GB" sz="1400" dirty="0" err="1"/>
              <a:t>werden</a:t>
            </a:r>
            <a:r>
              <a:rPr lang="en-GB" sz="1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11313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7564-7187-AFB6-8403-A93B0919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Kann man sich den ganzen </a:t>
            </a:r>
            <a:r>
              <a:rPr lang="en-DE" u="sng" dirty="0"/>
              <a:t>Aufwand</a:t>
            </a:r>
            <a:r>
              <a:rPr lang="en-DE" dirty="0"/>
              <a:t>,</a:t>
            </a:r>
            <a:br>
              <a:rPr lang="en-DE" dirty="0"/>
            </a:br>
            <a:r>
              <a:rPr lang="en-DE" dirty="0"/>
              <a:t>die vielen bewertungen und entscheidungen nicht auch sparen???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60623B-64AA-BD02-4F13-61DD8BEB9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F0D80-F135-FF90-71DD-FF7ACC65E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888" y="1608575"/>
            <a:ext cx="10866912" cy="3516668"/>
          </a:xfrm>
        </p:spPr>
        <p:txBody>
          <a:bodyPr/>
          <a:lstStyle/>
          <a:p>
            <a:endParaRPr lang="en-DE" dirty="0"/>
          </a:p>
          <a:p>
            <a:r>
              <a:rPr lang="en-DE" dirty="0"/>
              <a:t>TL;DR: Ja!</a:t>
            </a:r>
          </a:p>
          <a:p>
            <a:endParaRPr lang="en-DE" dirty="0"/>
          </a:p>
          <a:p>
            <a:r>
              <a:rPr lang="en-DE" dirty="0"/>
              <a:t>SOLLEN… MÜSSEN… MACHEN!!!</a:t>
            </a:r>
          </a:p>
          <a:p>
            <a:endParaRPr lang="en-DE" dirty="0"/>
          </a:p>
          <a:p>
            <a:r>
              <a:rPr lang="en-DE" dirty="0"/>
              <a:t>Machen ist wie wollen, nur krasser.</a:t>
            </a:r>
          </a:p>
        </p:txBody>
      </p:sp>
    </p:spTree>
    <p:extLst>
      <p:ext uri="{BB962C8B-B14F-4D97-AF65-F5344CB8AC3E}">
        <p14:creationId xmlns:p14="http://schemas.microsoft.com/office/powerpoint/2010/main" val="15141253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8CC7-F4DB-2601-0B80-9DDA26C6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13886-3B0C-DBA9-ABE5-481021869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45BCE-C2C3-7E3C-DFDA-041F31AB1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1616083"/>
          </a:xfrm>
        </p:spPr>
        <p:txBody>
          <a:bodyPr/>
          <a:lstStyle/>
          <a:p>
            <a:r>
              <a:rPr lang="en-DE" dirty="0"/>
              <a:t>Durch </a:t>
            </a:r>
            <a:r>
              <a:rPr lang="en-DE" u="sng" dirty="0"/>
              <a:t>Automatisierung</a:t>
            </a:r>
            <a:r>
              <a:rPr lang="en-DE" dirty="0"/>
              <a:t> und mit </a:t>
            </a:r>
            <a:r>
              <a:rPr lang="en-DE" u="sng" dirty="0"/>
              <a:t>Leidenschaft</a:t>
            </a:r>
            <a:r>
              <a:rPr lang="en-DE" dirty="0"/>
              <a:t> ❤️ machen wir das</a:t>
            </a:r>
          </a:p>
          <a:p>
            <a:pPr lvl="1"/>
            <a:r>
              <a:rPr lang="en-DE" dirty="0"/>
              <a:t>trotz vieler unterschiedlicher Systemen</a:t>
            </a:r>
          </a:p>
          <a:p>
            <a:pPr lvl="1"/>
            <a:r>
              <a:rPr lang="en-GB" dirty="0"/>
              <a:t>u</a:t>
            </a:r>
            <a:r>
              <a:rPr lang="en-DE" dirty="0"/>
              <a:t>nd vieler unterschiedlicher Anforderungen</a:t>
            </a:r>
          </a:p>
          <a:p>
            <a:pPr lvl="1"/>
            <a:r>
              <a:rPr lang="en-DE" u="sng" dirty="0"/>
              <a:t>besser</a:t>
            </a:r>
            <a:r>
              <a:rPr lang="en-DE" dirty="0"/>
              <a:t> und vor allem </a:t>
            </a:r>
            <a:r>
              <a:rPr lang="en-DE" u="sng" dirty="0"/>
              <a:t>flexibler</a:t>
            </a:r>
            <a:r>
              <a:rPr lang="en-DE" dirty="0"/>
              <a:t> als “die Cloud”</a:t>
            </a:r>
          </a:p>
        </p:txBody>
      </p:sp>
    </p:spTree>
    <p:extLst>
      <p:ext uri="{BB962C8B-B14F-4D97-AF65-F5344CB8AC3E}">
        <p14:creationId xmlns:p14="http://schemas.microsoft.com/office/powerpoint/2010/main" val="134619713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2B01-20DF-3A82-756C-3F2BD91C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DE" dirty="0"/>
              <a:t>rotzdem noch </a:t>
            </a:r>
            <a:r>
              <a:rPr lang="en-DE" u="sng" dirty="0"/>
              <a:t>herausforderungen</a:t>
            </a:r>
            <a:r>
              <a:rPr lang="en-DE" dirty="0"/>
              <a:t>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E8955E-F1B3-7346-127D-AE602B498D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E944C-207F-A832-21BB-68CB42570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4062907"/>
          </a:xfrm>
        </p:spPr>
        <p:txBody>
          <a:bodyPr/>
          <a:lstStyle/>
          <a:p>
            <a:r>
              <a:rPr lang="en-DE" u="sng" dirty="0"/>
              <a:t>Wichtige</a:t>
            </a:r>
            <a:r>
              <a:rPr lang="en-DE" dirty="0"/>
              <a:t> (business-critical wie z.B. SAP, produktiv, 100 Entwickler/Externe, …) </a:t>
            </a:r>
          </a:p>
          <a:p>
            <a:r>
              <a:rPr lang="en-DE" dirty="0"/>
              <a:t>Und </a:t>
            </a:r>
            <a:r>
              <a:rPr lang="en-DE" u="sng" dirty="0"/>
              <a:t>weniger wichtige </a:t>
            </a:r>
            <a:r>
              <a:rPr lang="en-DE" dirty="0"/>
              <a:t>Systeme / Stages</a:t>
            </a:r>
            <a:br>
              <a:rPr lang="en-DE" dirty="0"/>
            </a:br>
            <a:r>
              <a:rPr lang="en-DE" dirty="0"/>
              <a:t>(Sandbox, Test, Dev, QA, Konsolidierung, Pre-Prod, …)</a:t>
            </a:r>
          </a:p>
          <a:p>
            <a:r>
              <a:rPr lang="en-DE" dirty="0"/>
              <a:t>Alle Patche sollten vor den wichtigen Systemen getestet werden!</a:t>
            </a:r>
          </a:p>
          <a:p>
            <a:pPr lvl="1"/>
            <a:r>
              <a:rPr lang="en-DE" dirty="0"/>
              <a:t>D.h. nicht alles auf einmal patchen und</a:t>
            </a:r>
          </a:p>
          <a:p>
            <a:pPr lvl="1"/>
            <a:r>
              <a:rPr lang="en-DE" dirty="0"/>
              <a:t>immer denselben Stand in allen Stages innerhalb einer Landschaft ausrollen…</a:t>
            </a:r>
          </a:p>
          <a:p>
            <a:r>
              <a:rPr lang="en-DE" dirty="0"/>
              <a:t>“Ich trau mich nicht” oder “ich kann das doch gar nicht und weiss gar nicht wie das geht”…</a:t>
            </a:r>
          </a:p>
          <a:p>
            <a:pPr lvl="1"/>
            <a:r>
              <a:rPr lang="en-DE" b="0" dirty="0"/>
              <a:t>Anwendungsverantwortlicher ist auch für das Patchen des OS zuständig!</a:t>
            </a:r>
          </a:p>
          <a:p>
            <a:pPr lvl="1"/>
            <a:r>
              <a:rPr lang="en-GB" b="0" dirty="0"/>
              <a:t>z</a:t>
            </a:r>
            <a:r>
              <a:rPr lang="en-DE" b="0" dirty="0"/>
              <a:t>uständig &lt;&gt; tun, d.h. kümmern/delegieren ist auch “ok”!</a:t>
            </a:r>
          </a:p>
        </p:txBody>
      </p:sp>
    </p:spTree>
    <p:extLst>
      <p:ext uri="{BB962C8B-B14F-4D97-AF65-F5344CB8AC3E}">
        <p14:creationId xmlns:p14="http://schemas.microsoft.com/office/powerpoint/2010/main" val="29132706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94637-4C8B-5BB0-5C10-90945CD19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CEC1-807F-C600-4550-3B5E85D2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</a:t>
            </a:r>
            <a:r>
              <a:rPr lang="en-DE" dirty="0"/>
              <a:t>ie hat dmTech das </a:t>
            </a:r>
            <a:r>
              <a:rPr lang="en-DE" u="sng" dirty="0"/>
              <a:t>dilemma</a:t>
            </a:r>
            <a:r>
              <a:rPr lang="en-DE" dirty="0"/>
              <a:t> gelöst?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C5381A-2F39-D4E7-83D4-CBC34F5C92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F312E-CE46-C7DA-E7A3-300AC75F4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4370684"/>
          </a:xfrm>
        </p:spPr>
        <p:txBody>
          <a:bodyPr/>
          <a:lstStyle/>
          <a:p>
            <a:r>
              <a:rPr lang="en-GB" dirty="0"/>
              <a:t>Bottom-Up</a:t>
            </a:r>
          </a:p>
          <a:p>
            <a:endParaRPr lang="en-GB" dirty="0"/>
          </a:p>
          <a:p>
            <a:pPr lvl="1"/>
            <a:r>
              <a:rPr lang="en-GB" u="sng" dirty="0"/>
              <a:t>Alle</a:t>
            </a:r>
            <a:r>
              <a:rPr lang="en-GB" dirty="0"/>
              <a:t> Linux Server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gepatcht</a:t>
            </a:r>
            <a:r>
              <a:rPr lang="en-GB" dirty="0"/>
              <a:t>! (Opt-Out) - </a:t>
            </a:r>
            <a:r>
              <a:rPr lang="en-GB" dirty="0" err="1"/>
              <a:t>sonst</a:t>
            </a:r>
            <a:r>
              <a:rPr lang="en-GB" dirty="0"/>
              <a:t>:</a:t>
            </a:r>
          </a:p>
          <a:p>
            <a:pPr lvl="2"/>
            <a:r>
              <a:rPr lang="en-GB" dirty="0" err="1"/>
              <a:t>Manuell</a:t>
            </a:r>
            <a:endParaRPr lang="en-GB" dirty="0"/>
          </a:p>
          <a:p>
            <a:pPr lvl="2"/>
            <a:r>
              <a:rPr lang="en-GB" dirty="0"/>
              <a:t>Ansible</a:t>
            </a:r>
          </a:p>
          <a:p>
            <a:pPr lvl="2"/>
            <a:r>
              <a:rPr lang="en-GB" dirty="0"/>
              <a:t>Cronjob</a:t>
            </a:r>
          </a:p>
          <a:p>
            <a:pPr lvl="2"/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Automatisierungs</a:t>
            </a:r>
            <a:r>
              <a:rPr lang="en-GB" dirty="0"/>
              <a:t>-Tools…</a:t>
            </a:r>
          </a:p>
          <a:p>
            <a:pPr lvl="2"/>
            <a:endParaRPr lang="en-GB" dirty="0"/>
          </a:p>
          <a:p>
            <a:pPr lvl="1"/>
            <a:r>
              <a:rPr lang="en-GB" dirty="0" err="1"/>
              <a:t>Bereitstellung</a:t>
            </a:r>
            <a:r>
              <a:rPr lang="en-GB" dirty="0"/>
              <a:t> von</a:t>
            </a:r>
          </a:p>
          <a:p>
            <a:pPr lvl="2"/>
            <a:r>
              <a:rPr lang="en-GB" dirty="0"/>
              <a:t>“</a:t>
            </a:r>
            <a:r>
              <a:rPr lang="en-GB" dirty="0" err="1"/>
              <a:t>Infrastruktur</a:t>
            </a:r>
            <a:r>
              <a:rPr lang="en-GB" dirty="0"/>
              <a:t>”</a:t>
            </a:r>
          </a:p>
          <a:p>
            <a:pPr lvl="2"/>
            <a:r>
              <a:rPr lang="en-GB" dirty="0"/>
              <a:t>“</a:t>
            </a:r>
            <a:r>
              <a:rPr lang="en-GB" dirty="0" err="1"/>
              <a:t>Hilfsmittel</a:t>
            </a:r>
            <a:r>
              <a:rPr lang="en-GB" dirty="0"/>
              <a:t>(n)”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C6FAF-1EB0-3A10-0159-AE8B13A0AE9B}"/>
              </a:ext>
            </a:extLst>
          </p:cNvPr>
          <p:cNvSpPr txBox="1"/>
          <p:nvPr/>
        </p:nvSpPr>
        <p:spPr>
          <a:xfrm rot="627163">
            <a:off x="4349416" y="3569819"/>
            <a:ext cx="5323637" cy="43088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/>
            <a:r>
              <a:rPr lang="en-DE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Wir prüfen, DASS gepatcht wird!!!</a:t>
            </a:r>
          </a:p>
        </p:txBody>
      </p:sp>
    </p:spTree>
    <p:extLst>
      <p:ext uri="{BB962C8B-B14F-4D97-AF65-F5344CB8AC3E}">
        <p14:creationId xmlns:p14="http://schemas.microsoft.com/office/powerpoint/2010/main" val="28478243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778CE-6F2C-4898-E3B0-AEEEA0FC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u="sng" dirty="0"/>
              <a:t>Infrastruktur</a:t>
            </a:r>
            <a:r>
              <a:rPr lang="de-DE" dirty="0"/>
              <a:t>-upgrade</a:t>
            </a:r>
            <a:endParaRPr lang="en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3ED198-A465-55FB-BC3E-66E7B5522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8E4F1-F7B8-B574-63A0-1B6E9C03D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3632020"/>
          </a:xfrm>
        </p:spPr>
        <p:txBody>
          <a:bodyPr/>
          <a:lstStyle/>
          <a:p>
            <a:r>
              <a:rPr lang="en-GB" dirty="0"/>
              <a:t>ze</a:t>
            </a:r>
            <a:r>
              <a:rPr lang="en-DE" dirty="0"/>
              <a:t>ntraler </a:t>
            </a:r>
            <a:r>
              <a:rPr lang="en-DE" u="sng" dirty="0"/>
              <a:t>Reposerver</a:t>
            </a:r>
            <a:r>
              <a:rPr lang="en-DE" dirty="0"/>
              <a:t> (kein Server hat direkten Zugang zum Internet)</a:t>
            </a:r>
          </a:p>
          <a:p>
            <a:pPr marL="745200" lvl="1" indent="-457200">
              <a:buFont typeface="Arial" panose="020B0604020202020204" pitchFamily="34" charset="0"/>
              <a:buChar char="•"/>
            </a:pPr>
            <a:r>
              <a:rPr lang="en-DE" dirty="0"/>
              <a:t>RHEL</a:t>
            </a:r>
          </a:p>
          <a:p>
            <a:pPr marL="745200" lvl="1" indent="-457200">
              <a:buFont typeface="Arial" panose="020B0604020202020204" pitchFamily="34" charset="0"/>
              <a:buChar char="•"/>
            </a:pPr>
            <a:r>
              <a:rPr lang="en-DE" dirty="0"/>
              <a:t>SLES</a:t>
            </a:r>
          </a:p>
          <a:p>
            <a:pPr marL="745200" lvl="1" indent="-457200">
              <a:buFont typeface="Arial" panose="020B0604020202020204" pitchFamily="34" charset="0"/>
              <a:buChar char="•"/>
            </a:pPr>
            <a:r>
              <a:rPr lang="en-DE" dirty="0"/>
              <a:t>EPEL</a:t>
            </a:r>
          </a:p>
          <a:p>
            <a:pPr marL="745200" lvl="1" indent="-457200">
              <a:buFont typeface="Arial" panose="020B0604020202020204" pitchFamily="34" charset="0"/>
              <a:buChar char="•"/>
            </a:pPr>
            <a:r>
              <a:rPr lang="en-GB" dirty="0"/>
              <a:t>w</a:t>
            </a:r>
            <a:r>
              <a:rPr lang="en-DE" dirty="0"/>
              <a:t>eitere Hersteller, OpenSource, …</a:t>
            </a:r>
          </a:p>
          <a:p>
            <a:r>
              <a:rPr lang="en-DE" u="sng" dirty="0"/>
              <a:t>Staging</a:t>
            </a:r>
          </a:p>
          <a:p>
            <a:pPr lvl="1"/>
            <a:r>
              <a:rPr lang="en-DE" dirty="0"/>
              <a:t>Library, dev, stage, prod </a:t>
            </a:r>
            <a:r>
              <a:rPr lang="en-DE" dirty="0">
                <a:sym typeface="Wingdings" pitchFamily="2" charset="2"/>
              </a:rPr>
              <a:t> Abbildung von 1-n Stages auf “zuerst/vorab, dann alles nonprod, zuletzt prod”</a:t>
            </a:r>
          </a:p>
          <a:p>
            <a:pPr lvl="1"/>
            <a:r>
              <a:rPr lang="en-GB" dirty="0">
                <a:sym typeface="Wingdings" pitchFamily="2" charset="2"/>
              </a:rPr>
              <a:t>V</a:t>
            </a:r>
            <a:r>
              <a:rPr lang="en-DE" dirty="0">
                <a:sym typeface="Wingdings" pitchFamily="2" charset="2"/>
              </a:rPr>
              <a:t>erschiedene Zyklen je Anwendung: “sofort”, wöchentlich, monatlich, ad-hoc</a:t>
            </a:r>
          </a:p>
          <a:p>
            <a:pPr lvl="1"/>
            <a:endParaRPr lang="en-DE" dirty="0"/>
          </a:p>
        </p:txBody>
      </p:sp>
      <p:pic>
        <p:nvPicPr>
          <p:cNvPr id="2056" name="Picture 8" descr="Stay agile with SUSE Manager with Adfinis Professional Services">
            <a:extLst>
              <a:ext uri="{FF2B5EF4-FFF2-40B4-BE49-F238E27FC236}">
                <a16:creationId xmlns:a16="http://schemas.microsoft.com/office/drawing/2014/main" id="{C9D5B0F5-A400-F843-DB75-0B10632A2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544" y="2290298"/>
            <a:ext cx="2520211" cy="98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52043E7-25EB-CB5C-C69B-F9013B3D435A}"/>
              </a:ext>
            </a:extLst>
          </p:cNvPr>
          <p:cNvGrpSpPr/>
          <p:nvPr/>
        </p:nvGrpSpPr>
        <p:grpSpPr>
          <a:xfrm>
            <a:off x="6170712" y="2078414"/>
            <a:ext cx="1835317" cy="1502809"/>
            <a:chOff x="6170712" y="2078414"/>
            <a:chExt cx="1835317" cy="1502809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3D1CF00F-1274-3419-FF0A-96205B8782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6732" y="2078414"/>
              <a:ext cx="1694543" cy="704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Katello Project · GitHub">
              <a:extLst>
                <a:ext uri="{FF2B5EF4-FFF2-40B4-BE49-F238E27FC236}">
                  <a16:creationId xmlns:a16="http://schemas.microsoft.com/office/drawing/2014/main" id="{A636CFC0-7418-9666-763B-CF67BA6EE6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4003" y="2486974"/>
              <a:ext cx="942026" cy="9420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Pulp · GitHub">
              <a:extLst>
                <a:ext uri="{FF2B5EF4-FFF2-40B4-BE49-F238E27FC236}">
                  <a16:creationId xmlns:a16="http://schemas.microsoft.com/office/drawing/2014/main" id="{7C349D41-7852-4418-BE49-599F26F1A5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0712" y="2782686"/>
              <a:ext cx="798537" cy="7985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C62A173-0C6F-5FB4-AC5A-3585196410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794" y="5189659"/>
            <a:ext cx="1894249" cy="7042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E174FB-851B-670C-3CE4-CDF1B78184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7803" y="4661045"/>
            <a:ext cx="7772400" cy="176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651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EAB5-FEBC-9FE9-9A0C-60A0F8CB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DE" dirty="0"/>
              <a:t>taging 101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D24C2F-348E-3A88-5FC1-DC53A73C2D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12</a:t>
            </a:fld>
            <a:endParaRPr lang="de-DE"/>
          </a:p>
        </p:txBody>
      </p:sp>
      <p:grpSp>
        <p:nvGrpSpPr>
          <p:cNvPr id="1084" name="Group 1083">
            <a:extLst>
              <a:ext uri="{FF2B5EF4-FFF2-40B4-BE49-F238E27FC236}">
                <a16:creationId xmlns:a16="http://schemas.microsoft.com/office/drawing/2014/main" id="{3073227D-7F70-7197-536C-DBFBA3727DE0}"/>
              </a:ext>
            </a:extLst>
          </p:cNvPr>
          <p:cNvGrpSpPr/>
          <p:nvPr/>
        </p:nvGrpSpPr>
        <p:grpSpPr>
          <a:xfrm>
            <a:off x="152445" y="1090383"/>
            <a:ext cx="3608790" cy="2839927"/>
            <a:chOff x="152445" y="1090383"/>
            <a:chExt cx="3608790" cy="2839927"/>
          </a:xfrm>
        </p:grpSpPr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20C2D097-10C0-B523-6A90-2700E5D04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2435" y="2150414"/>
              <a:ext cx="1331025" cy="1331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0C608DAD-32FB-B576-839E-F371DAD9C8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1783" y="1090383"/>
              <a:ext cx="832331" cy="832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Red Hat Linux Logo - LogoDix">
              <a:extLst>
                <a:ext uri="{FF2B5EF4-FFF2-40B4-BE49-F238E27FC236}">
                  <a16:creationId xmlns:a16="http://schemas.microsoft.com/office/drawing/2014/main" id="{04069401-35EE-292F-50ED-6BC80DCF02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4535" y="1509419"/>
              <a:ext cx="826700" cy="8599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57B6EA1C-F267-B3B8-DD2C-F5806113F9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9328" y="1862009"/>
              <a:ext cx="503814" cy="671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6" name="Picture 22" descr="PostgreSQL Logo - LogoDix">
              <a:extLst>
                <a:ext uri="{FF2B5EF4-FFF2-40B4-BE49-F238E27FC236}">
                  <a16:creationId xmlns:a16="http://schemas.microsoft.com/office/drawing/2014/main" id="{C96DF895-6224-248C-0BA5-8EE811BF2C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460" y="3222702"/>
              <a:ext cx="732178" cy="707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8" name="Picture 24" descr="Elastic Launches Elasticsearch Service on Microsoft Azure | Business Wire">
              <a:extLst>
                <a:ext uri="{FF2B5EF4-FFF2-40B4-BE49-F238E27FC236}">
                  <a16:creationId xmlns:a16="http://schemas.microsoft.com/office/drawing/2014/main" id="{CA36F42D-317D-105C-3253-91E822A5DB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45" y="2369362"/>
              <a:ext cx="1424209" cy="744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Website Icon Vector #89547 - Free Icons Library">
              <a:extLst>
                <a:ext uri="{FF2B5EF4-FFF2-40B4-BE49-F238E27FC236}">
                  <a16:creationId xmlns:a16="http://schemas.microsoft.com/office/drawing/2014/main" id="{491892A7-A41E-2F26-4658-C3A476DBA3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550" y="1311668"/>
              <a:ext cx="1222093" cy="1222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Puppet Logo">
              <a:extLst>
                <a:ext uri="{FF2B5EF4-FFF2-40B4-BE49-F238E27FC236}">
                  <a16:creationId xmlns:a16="http://schemas.microsoft.com/office/drawing/2014/main" id="{0F3EBE78-9439-7A31-4870-93D7B4103F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7944" y="2610979"/>
              <a:ext cx="697658" cy="697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9A560D3-DDA6-2700-8D25-846FBB7F9331}"/>
              </a:ext>
            </a:extLst>
          </p:cNvPr>
          <p:cNvGrpSpPr/>
          <p:nvPr/>
        </p:nvGrpSpPr>
        <p:grpSpPr>
          <a:xfrm>
            <a:off x="3223460" y="3272608"/>
            <a:ext cx="2538071" cy="3316636"/>
            <a:chOff x="3356192" y="3039714"/>
            <a:chExt cx="2538071" cy="3316636"/>
          </a:xfrm>
        </p:grpSpPr>
        <p:pic>
          <p:nvPicPr>
            <p:cNvPr id="1050" name="Picture 26" descr="Pulp Logo">
              <a:extLst>
                <a:ext uri="{FF2B5EF4-FFF2-40B4-BE49-F238E27FC236}">
                  <a16:creationId xmlns:a16="http://schemas.microsoft.com/office/drawing/2014/main" id="{B811F450-AD1A-CE56-71D5-2A4E43C8EE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6192" y="3039714"/>
              <a:ext cx="2082800" cy="2527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6" name="Picture 32" descr="Foreman - Set up remote execution">
              <a:extLst>
                <a:ext uri="{FF2B5EF4-FFF2-40B4-BE49-F238E27FC236}">
                  <a16:creationId xmlns:a16="http://schemas.microsoft.com/office/drawing/2014/main" id="{BC3F4F76-47CF-E150-5878-8A75291750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2836" y="5618062"/>
              <a:ext cx="1971427" cy="738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FDD3CD-A05F-0FB4-5C3A-EF7EF7087FA7}"/>
              </a:ext>
            </a:extLst>
          </p:cNvPr>
          <p:cNvGrpSpPr/>
          <p:nvPr/>
        </p:nvGrpSpPr>
        <p:grpSpPr>
          <a:xfrm>
            <a:off x="6868028" y="386240"/>
            <a:ext cx="1304203" cy="1678647"/>
            <a:chOff x="6190947" y="3622867"/>
            <a:chExt cx="1304203" cy="1678647"/>
          </a:xfrm>
        </p:grpSpPr>
        <p:pic>
          <p:nvPicPr>
            <p:cNvPr id="1058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D77A4578-FDB9-25D8-ECDA-3C0151211D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2003" y="3622867"/>
              <a:ext cx="1222093" cy="1222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2823D4-79E6-B0EB-4E20-8DF76E9EFE2B}"/>
                </a:ext>
              </a:extLst>
            </p:cNvPr>
            <p:cNvSpPr txBox="1"/>
            <p:nvPr/>
          </p:nvSpPr>
          <p:spPr>
            <a:xfrm>
              <a:off x="6190947" y="4747516"/>
              <a:ext cx="1304203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DE" dirty="0"/>
                <a:t>Content View</a:t>
              </a:r>
            </a:p>
            <a:p>
              <a:pPr algn="ctr"/>
              <a:r>
                <a:rPr lang="en-DE" dirty="0"/>
                <a:t>“RHEL8”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ACC68E-110D-F60C-9DD0-A9062C767F9D}"/>
              </a:ext>
            </a:extLst>
          </p:cNvPr>
          <p:cNvGrpSpPr/>
          <p:nvPr/>
        </p:nvGrpSpPr>
        <p:grpSpPr>
          <a:xfrm>
            <a:off x="6893895" y="4541453"/>
            <a:ext cx="1304203" cy="1678647"/>
            <a:chOff x="8114274" y="2342056"/>
            <a:chExt cx="1304203" cy="1678647"/>
          </a:xfrm>
        </p:grpSpPr>
        <p:pic>
          <p:nvPicPr>
            <p:cNvPr id="7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CFF8FEA0-EEEE-0197-86E0-4A21B58C46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5330" y="2342056"/>
              <a:ext cx="1222093" cy="1222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7B5BAD-A46B-27A8-35E5-5F5530CE8116}"/>
                </a:ext>
              </a:extLst>
            </p:cNvPr>
            <p:cNvSpPr txBox="1"/>
            <p:nvPr/>
          </p:nvSpPr>
          <p:spPr>
            <a:xfrm>
              <a:off x="8114274" y="3466705"/>
              <a:ext cx="1304203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DE" dirty="0"/>
                <a:t>Content View</a:t>
              </a:r>
            </a:p>
            <a:p>
              <a:pPr algn="ctr"/>
              <a:r>
                <a:rPr lang="en-DE" dirty="0"/>
                <a:t>“SLES”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2993CD-8C09-56BD-B410-99CD5FB88D57}"/>
              </a:ext>
            </a:extLst>
          </p:cNvPr>
          <p:cNvGrpSpPr/>
          <p:nvPr/>
        </p:nvGrpSpPr>
        <p:grpSpPr>
          <a:xfrm>
            <a:off x="6868027" y="2491518"/>
            <a:ext cx="1304203" cy="1678647"/>
            <a:chOff x="9336367" y="3738156"/>
            <a:chExt cx="1304203" cy="1678647"/>
          </a:xfrm>
        </p:grpSpPr>
        <p:pic>
          <p:nvPicPr>
            <p:cNvPr id="9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3C006010-A5C0-58CC-7218-7171DAAE1F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7423" y="3738156"/>
              <a:ext cx="1222093" cy="12220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63B94A-3C62-E584-D467-7A6CE5DFA707}"/>
                </a:ext>
              </a:extLst>
            </p:cNvPr>
            <p:cNvSpPr txBox="1"/>
            <p:nvPr/>
          </p:nvSpPr>
          <p:spPr>
            <a:xfrm>
              <a:off x="9336367" y="4862805"/>
              <a:ext cx="1304203" cy="55399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DE" dirty="0"/>
                <a:t>Content View</a:t>
              </a:r>
            </a:p>
            <a:p>
              <a:pPr algn="ctr"/>
              <a:r>
                <a:rPr lang="en-DE" dirty="0"/>
                <a:t>“RHEL9”</a:t>
              </a:r>
            </a:p>
          </p:txBody>
        </p:sp>
      </p:grp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30A40527-949C-433F-4641-1D829745424E}"/>
              </a:ext>
            </a:extLst>
          </p:cNvPr>
          <p:cNvCxnSpPr>
            <a:cxnSpLocks/>
            <a:stCxn id="1046" idx="2"/>
          </p:cNvCxnSpPr>
          <p:nvPr/>
        </p:nvCxnSpPr>
        <p:spPr>
          <a:xfrm rot="16200000" flipH="1">
            <a:off x="1275112" y="3519747"/>
            <a:ext cx="1325374" cy="2146500"/>
          </a:xfrm>
          <a:prstGeom prst="curvedConnector2">
            <a:avLst/>
          </a:prstGeom>
          <a:ln w="857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C8DD021A-6139-A20D-1838-A01AA0965EE7}"/>
              </a:ext>
            </a:extLst>
          </p:cNvPr>
          <p:cNvCxnSpPr>
            <a:cxnSpLocks/>
            <a:stCxn id="1050" idx="3"/>
            <a:endCxn id="1058" idx="1"/>
          </p:cNvCxnSpPr>
          <p:nvPr/>
        </p:nvCxnSpPr>
        <p:spPr>
          <a:xfrm flipV="1">
            <a:off x="5306260" y="997287"/>
            <a:ext cx="1602824" cy="3538971"/>
          </a:xfrm>
          <a:prstGeom prst="curvedConnector3">
            <a:avLst>
              <a:gd name="adj1" fmla="val 50000"/>
            </a:avLst>
          </a:prstGeom>
          <a:ln w="857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6F8F43DE-1806-7878-1D44-D910067FFED0}"/>
              </a:ext>
            </a:extLst>
          </p:cNvPr>
          <p:cNvCxnSpPr>
            <a:cxnSpLocks/>
            <a:stCxn id="1050" idx="3"/>
            <a:endCxn id="9" idx="1"/>
          </p:cNvCxnSpPr>
          <p:nvPr/>
        </p:nvCxnSpPr>
        <p:spPr>
          <a:xfrm flipV="1">
            <a:off x="5306260" y="3102565"/>
            <a:ext cx="1602823" cy="1433693"/>
          </a:xfrm>
          <a:prstGeom prst="curvedConnector3">
            <a:avLst>
              <a:gd name="adj1" fmla="val 50000"/>
            </a:avLst>
          </a:prstGeom>
          <a:ln w="857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E63AE3D4-E1B3-1E20-00D2-3041D6D208BA}"/>
              </a:ext>
            </a:extLst>
          </p:cNvPr>
          <p:cNvCxnSpPr>
            <a:cxnSpLocks/>
            <a:stCxn id="1050" idx="3"/>
            <a:endCxn id="7" idx="1"/>
          </p:cNvCxnSpPr>
          <p:nvPr/>
        </p:nvCxnSpPr>
        <p:spPr>
          <a:xfrm>
            <a:off x="5306260" y="4536258"/>
            <a:ext cx="1628691" cy="616242"/>
          </a:xfrm>
          <a:prstGeom prst="curvedConnector3">
            <a:avLst>
              <a:gd name="adj1" fmla="val 50000"/>
            </a:avLst>
          </a:prstGeom>
          <a:ln w="857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77E06B-2C2B-06B4-3009-9D87EC23A0E4}"/>
              </a:ext>
            </a:extLst>
          </p:cNvPr>
          <p:cNvGrpSpPr/>
          <p:nvPr/>
        </p:nvGrpSpPr>
        <p:grpSpPr>
          <a:xfrm>
            <a:off x="8241627" y="2888472"/>
            <a:ext cx="2938974" cy="954562"/>
            <a:chOff x="5085044" y="4557408"/>
            <a:chExt cx="2938974" cy="954562"/>
          </a:xfrm>
        </p:grpSpPr>
        <p:pic>
          <p:nvPicPr>
            <p:cNvPr id="18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6C4D94A2-2C75-F913-9DED-4928B42E8D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5044" y="4557408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3A836D0-4D0F-EFE0-8CE7-3557CF8498C8}"/>
                </a:ext>
              </a:extLst>
            </p:cNvPr>
            <p:cNvSpPr txBox="1"/>
            <p:nvPr/>
          </p:nvSpPr>
          <p:spPr>
            <a:xfrm>
              <a:off x="5953258" y="4907917"/>
              <a:ext cx="2070760" cy="43088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DE" sz="1400" dirty="0"/>
                <a:t>CompositeContent View(s)</a:t>
              </a:r>
            </a:p>
            <a:p>
              <a:pPr algn="ctr"/>
              <a:r>
                <a:rPr lang="en-DE" sz="1400" dirty="0"/>
                <a:t>“weekly”, “monthly”, …</a:t>
              </a:r>
            </a:p>
          </p:txBody>
        </p:sp>
        <p:pic>
          <p:nvPicPr>
            <p:cNvPr id="20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2CC15440-F930-9CE9-B4A0-FCD2E6E354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0199" y="4733236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20007F29-0BF3-D53A-EAE1-87BA4EB5BC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170" y="4900924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655352-43A2-AB15-4486-74724A9CD412}"/>
              </a:ext>
            </a:extLst>
          </p:cNvPr>
          <p:cNvGrpSpPr/>
          <p:nvPr/>
        </p:nvGrpSpPr>
        <p:grpSpPr>
          <a:xfrm>
            <a:off x="9839071" y="3905158"/>
            <a:ext cx="1634718" cy="1106962"/>
            <a:chOff x="5085044" y="4557408"/>
            <a:chExt cx="1634718" cy="1106962"/>
          </a:xfrm>
        </p:grpSpPr>
        <p:pic>
          <p:nvPicPr>
            <p:cNvPr id="23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B54E1493-805A-9796-8A50-191C6004EF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5044" y="4557408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3F6C273-3367-EC28-3C47-3413D16D91C0}"/>
                </a:ext>
              </a:extLst>
            </p:cNvPr>
            <p:cNvSpPr txBox="1"/>
            <p:nvPr/>
          </p:nvSpPr>
          <p:spPr>
            <a:xfrm>
              <a:off x="6165058" y="4607872"/>
              <a:ext cx="554704" cy="8617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DE" sz="1400" b="1" dirty="0"/>
                <a:t>Library</a:t>
              </a:r>
            </a:p>
            <a:p>
              <a:pPr algn="ctr"/>
              <a:r>
                <a:rPr lang="en-GB" sz="1400" dirty="0"/>
                <a:t>D</a:t>
              </a:r>
              <a:r>
                <a:rPr lang="en-DE" sz="1400" dirty="0"/>
                <a:t>ev</a:t>
              </a:r>
            </a:p>
            <a:p>
              <a:pPr algn="ctr"/>
              <a:r>
                <a:rPr lang="en-GB" sz="1400" dirty="0"/>
                <a:t>S</a:t>
              </a:r>
              <a:r>
                <a:rPr lang="en-DE" sz="1400" dirty="0"/>
                <a:t>tage</a:t>
              </a:r>
            </a:p>
            <a:p>
              <a:pPr algn="ctr"/>
              <a:r>
                <a:rPr lang="en-GB" sz="1400" dirty="0"/>
                <a:t>P</a:t>
              </a:r>
              <a:r>
                <a:rPr lang="en-DE" sz="1400" dirty="0"/>
                <a:t>rod</a:t>
              </a:r>
            </a:p>
          </p:txBody>
        </p:sp>
        <p:pic>
          <p:nvPicPr>
            <p:cNvPr id="25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6341C8E1-D6C4-CF8C-BF1C-604D101AFF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0199" y="4733236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7F67E89B-6EFA-650F-B9E6-63C47E2977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170" y="4900924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F33B53C2-6010-E265-F992-0A0F51998B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3570" y="5053324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8" name="Curved Connector 57">
            <a:extLst>
              <a:ext uri="{FF2B5EF4-FFF2-40B4-BE49-F238E27FC236}">
                <a16:creationId xmlns:a16="http://schemas.microsoft.com/office/drawing/2014/main" id="{56763077-A0E1-35F5-00C0-916BB080D6BD}"/>
              </a:ext>
            </a:extLst>
          </p:cNvPr>
          <p:cNvCxnSpPr>
            <a:cxnSpLocks/>
            <a:stCxn id="21" idx="2"/>
            <a:endCxn id="23" idx="1"/>
          </p:cNvCxnSpPr>
          <p:nvPr/>
        </p:nvCxnSpPr>
        <p:spPr>
          <a:xfrm rot="16200000" flipH="1">
            <a:off x="9157350" y="3528959"/>
            <a:ext cx="367647" cy="995795"/>
          </a:xfrm>
          <a:prstGeom prst="curvedConnector2">
            <a:avLst/>
          </a:prstGeom>
          <a:ln w="508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9C39FCE-71F8-F2A9-02CB-2B5D07495E24}"/>
              </a:ext>
            </a:extLst>
          </p:cNvPr>
          <p:cNvGrpSpPr/>
          <p:nvPr/>
        </p:nvGrpSpPr>
        <p:grpSpPr>
          <a:xfrm>
            <a:off x="9339499" y="5441352"/>
            <a:ext cx="1218721" cy="611046"/>
            <a:chOff x="5501040" y="4767916"/>
            <a:chExt cx="1218721" cy="611046"/>
          </a:xfrm>
        </p:grpSpPr>
        <p:pic>
          <p:nvPicPr>
            <p:cNvPr id="1024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03EB385F-7EA7-4A7D-F5E4-3CAC98B3E0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1040" y="4767916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B7A1CD6C-AEDC-8A62-8716-FE0653177F7F}"/>
                </a:ext>
              </a:extLst>
            </p:cNvPr>
            <p:cNvSpPr txBox="1"/>
            <p:nvPr/>
          </p:nvSpPr>
          <p:spPr>
            <a:xfrm>
              <a:off x="6165058" y="4931037"/>
              <a:ext cx="554703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DE" sz="1400" b="1" dirty="0"/>
                <a:t>Library</a:t>
              </a:r>
            </a:p>
          </p:txBody>
        </p:sp>
      </p:grpSp>
      <p:cxnSp>
        <p:nvCxnSpPr>
          <p:cNvPr id="1033" name="Curved Connector 1032">
            <a:extLst>
              <a:ext uri="{FF2B5EF4-FFF2-40B4-BE49-F238E27FC236}">
                <a16:creationId xmlns:a16="http://schemas.microsoft.com/office/drawing/2014/main" id="{56D892CF-63FD-3E08-61E9-4DD562AA2AD2}"/>
              </a:ext>
            </a:extLst>
          </p:cNvPr>
          <p:cNvCxnSpPr>
            <a:cxnSpLocks/>
            <a:stCxn id="7" idx="3"/>
            <a:endCxn id="1024" idx="1"/>
          </p:cNvCxnSpPr>
          <p:nvPr/>
        </p:nvCxnSpPr>
        <p:spPr>
          <a:xfrm>
            <a:off x="8157044" y="5152500"/>
            <a:ext cx="1182455" cy="594375"/>
          </a:xfrm>
          <a:prstGeom prst="curvedConnector3">
            <a:avLst>
              <a:gd name="adj1" fmla="val 50000"/>
            </a:avLst>
          </a:prstGeom>
          <a:ln w="476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7150FD55-4535-ABA8-0502-FDAF76C042B0}"/>
              </a:ext>
            </a:extLst>
          </p:cNvPr>
          <p:cNvGrpSpPr/>
          <p:nvPr/>
        </p:nvGrpSpPr>
        <p:grpSpPr>
          <a:xfrm>
            <a:off x="8239953" y="867741"/>
            <a:ext cx="2938974" cy="954562"/>
            <a:chOff x="5085044" y="4557408"/>
            <a:chExt cx="2938974" cy="954562"/>
          </a:xfrm>
        </p:grpSpPr>
        <p:pic>
          <p:nvPicPr>
            <p:cNvPr id="1041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DBC6F0F4-59C2-37ED-C04E-D1853EA35D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5044" y="4557408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4848DA11-A80A-47C3-3F38-66342F788A70}"/>
                </a:ext>
              </a:extLst>
            </p:cNvPr>
            <p:cNvSpPr txBox="1"/>
            <p:nvPr/>
          </p:nvSpPr>
          <p:spPr>
            <a:xfrm>
              <a:off x="5953258" y="4907917"/>
              <a:ext cx="2070760" cy="43088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DE" sz="1400" dirty="0"/>
                <a:t>CompositeContent View(s)</a:t>
              </a:r>
            </a:p>
            <a:p>
              <a:pPr algn="ctr"/>
              <a:r>
                <a:rPr lang="en-DE" sz="1400" dirty="0"/>
                <a:t>“weekly”, “monthly”, …</a:t>
              </a:r>
            </a:p>
          </p:txBody>
        </p:sp>
        <p:pic>
          <p:nvPicPr>
            <p:cNvPr id="1045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C30B16BE-10C9-D3E7-030E-1D358725E2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0199" y="4733236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7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DA1972F5-377F-1339-5130-8F30BD8DF9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170" y="4900924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D152CCC6-7427-9DCD-57C1-B26FF1084C54}"/>
              </a:ext>
            </a:extLst>
          </p:cNvPr>
          <p:cNvGrpSpPr/>
          <p:nvPr/>
        </p:nvGrpSpPr>
        <p:grpSpPr>
          <a:xfrm>
            <a:off x="9837397" y="1884427"/>
            <a:ext cx="1634718" cy="1106962"/>
            <a:chOff x="5085044" y="4557408"/>
            <a:chExt cx="1634718" cy="1106962"/>
          </a:xfrm>
        </p:grpSpPr>
        <p:pic>
          <p:nvPicPr>
            <p:cNvPr id="1051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08AD8B90-083D-5D6E-542A-CC9786A3D6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5044" y="4557408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A9FDA6F6-0136-65FE-B542-4D690BB2F630}"/>
                </a:ext>
              </a:extLst>
            </p:cNvPr>
            <p:cNvSpPr txBox="1"/>
            <p:nvPr/>
          </p:nvSpPr>
          <p:spPr>
            <a:xfrm>
              <a:off x="6165058" y="4607872"/>
              <a:ext cx="554704" cy="8617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DE" sz="1400" b="1" dirty="0"/>
                <a:t>Library</a:t>
              </a:r>
            </a:p>
            <a:p>
              <a:pPr algn="ctr"/>
              <a:r>
                <a:rPr lang="en-GB" sz="1400" dirty="0"/>
                <a:t>D</a:t>
              </a:r>
              <a:r>
                <a:rPr lang="en-DE" sz="1400" dirty="0"/>
                <a:t>ev</a:t>
              </a:r>
            </a:p>
            <a:p>
              <a:pPr algn="ctr"/>
              <a:r>
                <a:rPr lang="en-GB" sz="1400" dirty="0"/>
                <a:t>S</a:t>
              </a:r>
              <a:r>
                <a:rPr lang="en-DE" sz="1400" dirty="0"/>
                <a:t>tage</a:t>
              </a:r>
            </a:p>
            <a:p>
              <a:pPr algn="ctr"/>
              <a:r>
                <a:rPr lang="en-GB" sz="1400" dirty="0"/>
                <a:t>P</a:t>
              </a:r>
              <a:r>
                <a:rPr lang="en-DE" sz="1400" dirty="0"/>
                <a:t>rod</a:t>
              </a:r>
            </a:p>
          </p:txBody>
        </p:sp>
        <p:pic>
          <p:nvPicPr>
            <p:cNvPr id="1055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795DBD34-D713-9022-A503-84507A6142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0199" y="4733236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7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5F5D9831-E335-1CDD-25D5-258102112E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170" y="4900924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9" name="Picture 34" descr="Database, base, drive, repository icon - Download on Iconfinder">
              <a:extLst>
                <a:ext uri="{FF2B5EF4-FFF2-40B4-BE49-F238E27FC236}">
                  <a16:creationId xmlns:a16="http://schemas.microsoft.com/office/drawing/2014/main" id="{24468FB3-FF01-2423-0AC2-E000843853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3570" y="5053324"/>
              <a:ext cx="611046" cy="611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60" name="Curved Connector 1059">
            <a:extLst>
              <a:ext uri="{FF2B5EF4-FFF2-40B4-BE49-F238E27FC236}">
                <a16:creationId xmlns:a16="http://schemas.microsoft.com/office/drawing/2014/main" id="{B40A0312-8CE8-F5AC-0DCB-5D0887B95052}"/>
              </a:ext>
            </a:extLst>
          </p:cNvPr>
          <p:cNvCxnSpPr>
            <a:cxnSpLocks/>
            <a:stCxn id="1047" idx="2"/>
            <a:endCxn id="1051" idx="1"/>
          </p:cNvCxnSpPr>
          <p:nvPr/>
        </p:nvCxnSpPr>
        <p:spPr>
          <a:xfrm rot="16200000" flipH="1">
            <a:off x="9155676" y="1508228"/>
            <a:ext cx="367647" cy="995795"/>
          </a:xfrm>
          <a:prstGeom prst="curvedConnector2">
            <a:avLst/>
          </a:prstGeom>
          <a:ln w="508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8" name="Curved Connector 1077">
            <a:extLst>
              <a:ext uri="{FF2B5EF4-FFF2-40B4-BE49-F238E27FC236}">
                <a16:creationId xmlns:a16="http://schemas.microsoft.com/office/drawing/2014/main" id="{BA450C8E-F514-B6A3-83E5-DD94B9878FE5}"/>
              </a:ext>
            </a:extLst>
          </p:cNvPr>
          <p:cNvCxnSpPr>
            <a:cxnSpLocks/>
            <a:stCxn id="6" idx="2"/>
            <a:endCxn id="1047" idx="1"/>
          </p:cNvCxnSpPr>
          <p:nvPr/>
        </p:nvCxnSpPr>
        <p:spPr>
          <a:xfrm rot="5400000" flipH="1" flipV="1">
            <a:off x="7754050" y="1282859"/>
            <a:ext cx="548107" cy="1015949"/>
          </a:xfrm>
          <a:prstGeom prst="curvedConnector4">
            <a:avLst>
              <a:gd name="adj1" fmla="val -41707"/>
              <a:gd name="adj2" fmla="val 82093"/>
            </a:avLst>
          </a:prstGeom>
          <a:ln w="4445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1" name="Curved Connector 1080">
            <a:extLst>
              <a:ext uri="{FF2B5EF4-FFF2-40B4-BE49-F238E27FC236}">
                <a16:creationId xmlns:a16="http://schemas.microsoft.com/office/drawing/2014/main" id="{2B765068-C360-D8CD-0D02-8AAD994B0A30}"/>
              </a:ext>
            </a:extLst>
          </p:cNvPr>
          <p:cNvCxnSpPr>
            <a:cxnSpLocks/>
            <a:stCxn id="10" idx="2"/>
          </p:cNvCxnSpPr>
          <p:nvPr/>
        </p:nvCxnSpPr>
        <p:spPr>
          <a:xfrm rot="5400000" flipH="1" flipV="1">
            <a:off x="7731087" y="3405209"/>
            <a:ext cx="553998" cy="975914"/>
          </a:xfrm>
          <a:prstGeom prst="curvedConnector4">
            <a:avLst>
              <a:gd name="adj1" fmla="val -41264"/>
              <a:gd name="adj2" fmla="val 83410"/>
            </a:avLst>
          </a:prstGeom>
          <a:ln w="4445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Picture 4" descr="Katello Project · GitHub">
            <a:extLst>
              <a:ext uri="{FF2B5EF4-FFF2-40B4-BE49-F238E27FC236}">
                <a16:creationId xmlns:a16="http://schemas.microsoft.com/office/drawing/2014/main" id="{A84C1BFF-484F-DF7D-0DB4-72EA58301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347" y="3736710"/>
            <a:ext cx="1275410" cy="127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48039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4BEE-3F1F-7E47-3BDA-A8F14F89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3F3F-EB35-1C2F-72B8-AA22FCD81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66"/>
            <a:ext cx="9817100" cy="1325563"/>
          </a:xfrm>
        </p:spPr>
        <p:txBody>
          <a:bodyPr/>
          <a:lstStyle/>
          <a:p>
            <a:r>
              <a:rPr lang="de-DE" u="sng" dirty="0"/>
              <a:t>Infrastruktur</a:t>
            </a:r>
            <a:r>
              <a:rPr lang="de-DE" dirty="0"/>
              <a:t>-upgrade</a:t>
            </a:r>
            <a:endParaRPr lang="en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E83E5C-F68A-342D-4B10-14296F3EC5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265EA-ED2E-30B6-A48C-40ED29105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877420"/>
          </a:xfrm>
        </p:spPr>
        <p:txBody>
          <a:bodyPr/>
          <a:lstStyle/>
          <a:p>
            <a:r>
              <a:rPr lang="en-DE" dirty="0"/>
              <a:t>Zuweisung von Systemen/Gruppen zu Zyklen/Stages</a:t>
            </a:r>
          </a:p>
          <a:p>
            <a:pPr lvl="1"/>
            <a:r>
              <a:rPr lang="en-GB" dirty="0"/>
              <a:t>A</a:t>
            </a:r>
            <a:r>
              <a:rPr lang="en-DE" dirty="0"/>
              <a:t>nhand “Activation Key” in Puppet-Hieradata</a:t>
            </a:r>
          </a:p>
        </p:txBody>
      </p:sp>
      <p:pic>
        <p:nvPicPr>
          <p:cNvPr id="2054" name="Picture 6" descr="Puppet Logo - PNG Logo Vector Brand Downloads (SVG, EPS)">
            <a:extLst>
              <a:ext uri="{FF2B5EF4-FFF2-40B4-BE49-F238E27FC236}">
                <a16:creationId xmlns:a16="http://schemas.microsoft.com/office/drawing/2014/main" id="{A37ACAFF-AF06-29BD-F82F-989738D38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893" y="1579822"/>
            <a:ext cx="1851393" cy="65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838111-2DFC-2A31-0D5A-69AAA70B8F16}"/>
              </a:ext>
            </a:extLst>
          </p:cNvPr>
          <p:cNvSpPr txBox="1"/>
          <p:nvPr/>
        </p:nvSpPr>
        <p:spPr>
          <a:xfrm>
            <a:off x="9417132" y="715295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/>
            <a:endParaRPr lang="en-DE" dirty="0">
              <a:solidFill>
                <a:schemeClr val="accent3"/>
              </a:solidFill>
            </a:endParaRPr>
          </a:p>
        </p:txBody>
      </p:sp>
      <p:pic>
        <p:nvPicPr>
          <p:cNvPr id="10" name="Picture 4" descr="YAML File Format icon PNG and SVG Vector Free Download">
            <a:extLst>
              <a:ext uri="{FF2B5EF4-FFF2-40B4-BE49-F238E27FC236}">
                <a16:creationId xmlns:a16="http://schemas.microsoft.com/office/drawing/2014/main" id="{C9BC8B4B-6CEE-6011-1CAD-691B78A0C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1340" y="2869196"/>
            <a:ext cx="651946" cy="65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22BC1C-78BC-94E2-D4E6-1CE1D8EC5C47}"/>
              </a:ext>
            </a:extLst>
          </p:cNvPr>
          <p:cNvSpPr txBox="1"/>
          <p:nvPr/>
        </p:nvSpPr>
        <p:spPr>
          <a:xfrm>
            <a:off x="9106534" y="4845552"/>
            <a:ext cx="1330492" cy="110799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/>
            <a:r>
              <a:rPr lang="en-GB" dirty="0"/>
              <a:t>Dev = </a:t>
            </a:r>
            <a:r>
              <a:rPr lang="de-DE" dirty="0" err="1"/>
              <a:t>w_di</a:t>
            </a:r>
            <a:endParaRPr lang="en-DE" dirty="0"/>
          </a:p>
          <a:p>
            <a:pPr algn="l"/>
            <a:r>
              <a:rPr lang="en-GB" dirty="0"/>
              <a:t>S</a:t>
            </a:r>
            <a:r>
              <a:rPr lang="en-DE" dirty="0"/>
              <a:t>tage = w_mi</a:t>
            </a:r>
          </a:p>
          <a:p>
            <a:pPr algn="l"/>
            <a:r>
              <a:rPr lang="en-DE" dirty="0"/>
              <a:t>…</a:t>
            </a:r>
          </a:p>
          <a:p>
            <a:pPr algn="l"/>
            <a:r>
              <a:rPr lang="en-GB" dirty="0"/>
              <a:t>P</a:t>
            </a:r>
            <a:r>
              <a:rPr lang="en-DE" dirty="0"/>
              <a:t>rod = w_mo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0A2FBB1-1B6C-B58D-DD6B-0D55906C6FA9}"/>
              </a:ext>
            </a:extLst>
          </p:cNvPr>
          <p:cNvGrpSpPr/>
          <p:nvPr/>
        </p:nvGrpSpPr>
        <p:grpSpPr>
          <a:xfrm>
            <a:off x="3636283" y="2869196"/>
            <a:ext cx="5105400" cy="3365782"/>
            <a:chOff x="3636283" y="2869196"/>
            <a:chExt cx="5105400" cy="336578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BD28E46-9169-9E19-8C04-A7F9DC1BFD33}"/>
                </a:ext>
              </a:extLst>
            </p:cNvPr>
            <p:cNvGrpSpPr/>
            <p:nvPr/>
          </p:nvGrpSpPr>
          <p:grpSpPr>
            <a:xfrm>
              <a:off x="3636283" y="2869196"/>
              <a:ext cx="5105400" cy="3365782"/>
              <a:chOff x="5809467" y="2990568"/>
              <a:chExt cx="5105400" cy="336578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99A45CC4-174C-E3CA-5B0A-05C56B1588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09467" y="2990568"/>
                <a:ext cx="5105400" cy="3365782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  <a:softEdge rad="0"/>
              </a:effectLst>
            </p:spPr>
          </p:pic>
          <p:sp>
            <p:nvSpPr>
              <p:cNvPr id="16" name="Frame 15">
                <a:extLst>
                  <a:ext uri="{FF2B5EF4-FFF2-40B4-BE49-F238E27FC236}">
                    <a16:creationId xmlns:a16="http://schemas.microsoft.com/office/drawing/2014/main" id="{9F40A6D1-A02A-FDB7-591B-9822CFB8BA9D}"/>
                  </a:ext>
                </a:extLst>
              </p:cNvPr>
              <p:cNvSpPr/>
              <p:nvPr/>
            </p:nvSpPr>
            <p:spPr>
              <a:xfrm>
                <a:off x="8752114" y="3123210"/>
                <a:ext cx="2054431" cy="213756"/>
              </a:xfrm>
              <a:prstGeom prst="frame">
                <a:avLst/>
              </a:prstGeom>
              <a:solidFill>
                <a:srgbClr val="FFFF00"/>
              </a:solidFill>
            </p:spPr>
            <p:txBody>
              <a:bodyPr wrap="none" rtlCol="0" anchor="ctr">
                <a:noAutofit/>
              </a:bodyPr>
              <a:lstStyle/>
              <a:p>
                <a:pPr algn="l"/>
                <a:endParaRPr lang="en-DE" sz="1050" dirty="0">
                  <a:solidFill>
                    <a:schemeClr val="tx2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9B9C94A-537C-BA30-2A87-12FD209DA275}"/>
                </a:ext>
              </a:extLst>
            </p:cNvPr>
            <p:cNvSpPr/>
            <p:nvPr/>
          </p:nvSpPr>
          <p:spPr>
            <a:xfrm>
              <a:off x="7810959" y="3024973"/>
              <a:ext cx="822402" cy="312243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 anchor="ctr">
              <a:noAutofit/>
            </a:bodyPr>
            <a:lstStyle/>
            <a:p>
              <a:pPr algn="l"/>
              <a:endParaRPr lang="en-DE" sz="1050" dirty="0">
                <a:solidFill>
                  <a:sysClr val="windowText" lastClr="000000"/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12345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E032C-5AE1-9802-2B51-0F979A44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DE" dirty="0"/>
              <a:t>uppet-hiera: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CFCDCD-B8B3-A85E-E382-3ED17FE130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14</a:t>
            </a:fld>
            <a:endParaRPr lang="de-D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05AEAB-AA74-648B-142F-C4CCD06919C0}"/>
              </a:ext>
            </a:extLst>
          </p:cNvPr>
          <p:cNvGrpSpPr/>
          <p:nvPr/>
        </p:nvGrpSpPr>
        <p:grpSpPr>
          <a:xfrm>
            <a:off x="1129228" y="828157"/>
            <a:ext cx="7772400" cy="5710755"/>
            <a:chOff x="1129228" y="828157"/>
            <a:chExt cx="7772400" cy="571075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24E1B52-7545-E35D-A6A2-4218C0C52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9228" y="828157"/>
              <a:ext cx="7772400" cy="5710755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349F07A3-2275-7C1E-9DF1-56447CE7A109}"/>
                </a:ext>
              </a:extLst>
            </p:cNvPr>
            <p:cNvSpPr/>
            <p:nvPr/>
          </p:nvSpPr>
          <p:spPr>
            <a:xfrm>
              <a:off x="1959429" y="985652"/>
              <a:ext cx="546265" cy="339911"/>
            </a:xfrm>
            <a:prstGeom prst="frame">
              <a:avLst>
                <a:gd name="adj1" fmla="val 8597"/>
              </a:avLst>
            </a:prstGeom>
            <a:solidFill>
              <a:srgbClr val="FFFF00"/>
            </a:solidFill>
          </p:spPr>
          <p:txBody>
            <a:bodyPr wrap="none" rtlCol="0" anchor="ctr">
              <a:noAutofit/>
            </a:bodyPr>
            <a:lstStyle/>
            <a:p>
              <a:pPr algn="l"/>
              <a:endParaRPr lang="en-DE" sz="1050" dirty="0">
                <a:solidFill>
                  <a:schemeClr val="tx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086B3C6D-B3F6-2F06-6107-7991159AF788}"/>
                </a:ext>
              </a:extLst>
            </p:cNvPr>
            <p:cNvSpPr/>
            <p:nvPr/>
          </p:nvSpPr>
          <p:spPr>
            <a:xfrm>
              <a:off x="1959429" y="4154384"/>
              <a:ext cx="914400" cy="251361"/>
            </a:xfrm>
            <a:prstGeom prst="frame">
              <a:avLst>
                <a:gd name="adj1" fmla="val 8597"/>
              </a:avLst>
            </a:prstGeom>
            <a:solidFill>
              <a:srgbClr val="FFFF00"/>
            </a:solidFill>
          </p:spPr>
          <p:txBody>
            <a:bodyPr wrap="none" rtlCol="0" anchor="ctr">
              <a:noAutofit/>
            </a:bodyPr>
            <a:lstStyle/>
            <a:p>
              <a:pPr algn="l"/>
              <a:endParaRPr lang="en-DE" sz="1050" dirty="0">
                <a:solidFill>
                  <a:schemeClr val="tx2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767696D5-DE87-F293-E7E5-91527C05276F}"/>
                </a:ext>
              </a:extLst>
            </p:cNvPr>
            <p:cNvSpPr/>
            <p:nvPr/>
          </p:nvSpPr>
          <p:spPr>
            <a:xfrm>
              <a:off x="1959429" y="1983764"/>
              <a:ext cx="819397" cy="251361"/>
            </a:xfrm>
            <a:prstGeom prst="frame">
              <a:avLst>
                <a:gd name="adj1" fmla="val 8597"/>
              </a:avLst>
            </a:prstGeom>
            <a:solidFill>
              <a:srgbClr val="FFFF00"/>
            </a:solidFill>
          </p:spPr>
          <p:txBody>
            <a:bodyPr wrap="none" rtlCol="0" anchor="ctr">
              <a:noAutofit/>
            </a:bodyPr>
            <a:lstStyle/>
            <a:p>
              <a:pPr algn="l"/>
              <a:endParaRPr lang="en-DE" sz="1050" dirty="0">
                <a:solidFill>
                  <a:schemeClr val="tx2"/>
                </a:solidFill>
                <a:cs typeface="Arial" panose="020B0604020202020204" pitchFamily="34" charset="0"/>
              </a:endParaRPr>
            </a:p>
          </p:txBody>
        </p:sp>
      </p:grpSp>
      <p:pic>
        <p:nvPicPr>
          <p:cNvPr id="11" name="Picture 4" descr="YAML File Format icon PNG and SVG Vector Free Download">
            <a:extLst>
              <a:ext uri="{FF2B5EF4-FFF2-40B4-BE49-F238E27FC236}">
                <a16:creationId xmlns:a16="http://schemas.microsoft.com/office/drawing/2014/main" id="{834E823F-EC47-852F-C4CF-B6D3F53FB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883" y="829634"/>
            <a:ext cx="651946" cy="65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094480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9821-FE77-621E-78C6-F7F7B870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DE" dirty="0"/>
              <a:t>uppet-hiera: patching-zeiten, opt-”in”, 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B2ECC7-C0BD-02B3-2DF8-BD74EECFD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15</a:t>
            </a:fld>
            <a:endParaRPr lang="de-D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4C15C4-70DD-8E9E-2875-377A7B3E8269}"/>
              </a:ext>
            </a:extLst>
          </p:cNvPr>
          <p:cNvGrpSpPr/>
          <p:nvPr/>
        </p:nvGrpSpPr>
        <p:grpSpPr>
          <a:xfrm>
            <a:off x="744648" y="1325563"/>
            <a:ext cx="8327803" cy="3365782"/>
            <a:chOff x="1129144" y="823646"/>
            <a:chExt cx="8327803" cy="336578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1924E94-49BB-0EB1-F46D-DE4038199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9144" y="823646"/>
              <a:ext cx="8327803" cy="3365782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BA74C970-0D76-352B-770B-7EF134A72603}"/>
                </a:ext>
              </a:extLst>
            </p:cNvPr>
            <p:cNvSpPr/>
            <p:nvPr/>
          </p:nvSpPr>
          <p:spPr>
            <a:xfrm>
              <a:off x="1129145" y="2195268"/>
              <a:ext cx="3298372" cy="251049"/>
            </a:xfrm>
            <a:prstGeom prst="frame">
              <a:avLst/>
            </a:prstGeom>
            <a:solidFill>
              <a:srgbClr val="FFFF00"/>
            </a:solidFill>
          </p:spPr>
          <p:txBody>
            <a:bodyPr wrap="none" rtlCol="0" anchor="ctr">
              <a:noAutofit/>
            </a:bodyPr>
            <a:lstStyle/>
            <a:p>
              <a:pPr algn="l"/>
              <a:endParaRPr lang="en-DE" sz="1050" dirty="0">
                <a:solidFill>
                  <a:schemeClr val="tx2"/>
                </a:solidFill>
                <a:cs typeface="Arial" panose="020B0604020202020204" pitchFamily="34" charset="0"/>
              </a:endParaRPr>
            </a:p>
          </p:txBody>
        </p:sp>
      </p:grpSp>
      <p:pic>
        <p:nvPicPr>
          <p:cNvPr id="12" name="Picture 4" descr="YAML File Format icon PNG and SVG Vector Free Download">
            <a:extLst>
              <a:ext uri="{FF2B5EF4-FFF2-40B4-BE49-F238E27FC236}">
                <a16:creationId xmlns:a16="http://schemas.microsoft.com/office/drawing/2014/main" id="{5B76D6D4-D220-2A74-E6A1-F99051036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5155" y="1325563"/>
            <a:ext cx="651946" cy="65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D73FBD5-5A97-ADC0-C15E-B2E86352AEEA}"/>
              </a:ext>
            </a:extLst>
          </p:cNvPr>
          <p:cNvSpPr/>
          <p:nvPr/>
        </p:nvSpPr>
        <p:spPr>
          <a:xfrm>
            <a:off x="5726626" y="2872108"/>
            <a:ext cx="3197038" cy="272691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algn="l"/>
            <a:endParaRPr lang="en-DE" sz="1050" dirty="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412363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14C8-27FB-E23E-78BF-EA17C908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u="sng" dirty="0"/>
              <a:t>Hilfsmittel</a:t>
            </a:r>
            <a:r>
              <a:rPr lang="en-DE" dirty="0"/>
              <a:t>:</a:t>
            </a:r>
            <a:br>
              <a:rPr lang="en-DE" dirty="0"/>
            </a:br>
            <a:r>
              <a:rPr lang="en-DE" dirty="0"/>
              <a:t>bash, systemd, cron, ansible, 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68C22A-1063-8675-0A9D-CB15D4B82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96A82-E84D-8CED-D037-5334FEC95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4867038"/>
          </a:xfrm>
        </p:spPr>
        <p:txBody>
          <a:bodyPr/>
          <a:lstStyle/>
          <a:p>
            <a:r>
              <a:rPr lang="en-DE" dirty="0"/>
              <a:t>All-in-One “</a:t>
            </a:r>
            <a:r>
              <a:rPr lang="en-DE" u="sng" dirty="0"/>
              <a:t>update-system</a:t>
            </a:r>
            <a:r>
              <a:rPr lang="en-DE" dirty="0"/>
              <a:t>” bash Skript mit “init.d”-style Hooks</a:t>
            </a:r>
          </a:p>
          <a:p>
            <a:pPr lvl="1"/>
            <a:r>
              <a:rPr lang="en-DE" dirty="0"/>
              <a:t>RHEL, SLES (erweiterbar um z.B. Debian, …)</a:t>
            </a:r>
          </a:p>
          <a:p>
            <a:pPr lvl="1"/>
            <a:r>
              <a:rPr lang="en-DE" dirty="0"/>
              <a:t>yum, dnf, zypper</a:t>
            </a:r>
          </a:p>
          <a:p>
            <a:pPr lvl="1"/>
            <a:r>
              <a:rPr lang="en-DE" dirty="0"/>
              <a:t>1210 loc, 1297 inkl. #, 27 functions, davon 2 traps</a:t>
            </a:r>
          </a:p>
          <a:p>
            <a:pPr lvl="1"/>
            <a:endParaRPr lang="en-DE" dirty="0"/>
          </a:p>
          <a:p>
            <a:r>
              <a:rPr lang="en-DE" dirty="0"/>
              <a:t>SystemD-Timer (Default)</a:t>
            </a:r>
          </a:p>
          <a:p>
            <a:pPr lvl="1"/>
            <a:r>
              <a:rPr lang="en-DE" dirty="0"/>
              <a:t>“zufällige” Startzeit MO-FR zw. 2 und 6</a:t>
            </a:r>
          </a:p>
          <a:p>
            <a:pPr lvl="1"/>
            <a:r>
              <a:rPr lang="en-GB" dirty="0"/>
              <a:t>B</a:t>
            </a:r>
            <a:r>
              <a:rPr lang="en-DE" dirty="0"/>
              <a:t>ei 2er (oder mehr) Systemverbünden nie mehr als ein System gleichzeitig (Locking per Foreman-Plugin “DLM”)</a:t>
            </a:r>
          </a:p>
          <a:p>
            <a:r>
              <a:rPr lang="en-DE" dirty="0"/>
              <a:t>Cronjobs (per Puppet oder manuell eingetragen) statt SystemD-Timer</a:t>
            </a:r>
          </a:p>
          <a:p>
            <a:r>
              <a:rPr lang="en-GB" dirty="0"/>
              <a:t>M</a:t>
            </a:r>
            <a:r>
              <a:rPr lang="en-DE" dirty="0"/>
              <a:t>anuell oder Ansible Playbooks (manuell oder per GitLab Pipeline)</a:t>
            </a:r>
          </a:p>
          <a:p>
            <a:r>
              <a:rPr lang="en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47461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F359B-D70B-8ABD-0D24-F189319F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CDCC-A877-CA8F-4AFE-A96798D40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u="sng" dirty="0"/>
              <a:t>Hilfsmittel</a:t>
            </a:r>
            <a:r>
              <a:rPr lang="en-DE" dirty="0"/>
              <a:t>:</a:t>
            </a:r>
            <a:br>
              <a:rPr lang="en-DE" dirty="0"/>
            </a:br>
            <a:r>
              <a:rPr lang="en-DE" dirty="0"/>
              <a:t>Das herzstück!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8A9847-5D3B-34A8-4635-E4AE972D71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17</a:t>
            </a:fld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B3E233-5A5A-34E7-53E8-74877F83D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4" y="1325563"/>
            <a:ext cx="9041246" cy="498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6493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68F0-1D19-AEF9-6519-854CCD3A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</a:t>
            </a:r>
            <a:r>
              <a:rPr lang="en-DE" dirty="0"/>
              <a:t>pdate-system funktionen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DA1E21-F2D8-13EC-7437-AC046FD83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F6D9D-363B-E0EA-C921-F17A563E9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641" y="840663"/>
            <a:ext cx="3954483" cy="5176674"/>
          </a:xfrm>
        </p:spPr>
        <p:txBody>
          <a:bodyPr/>
          <a:lstStyle/>
          <a:p>
            <a:r>
              <a:rPr lang="en-GB" sz="1400" dirty="0" err="1">
                <a:highlight>
                  <a:srgbClr val="FFFF00"/>
                </a:highlight>
              </a:rPr>
              <a:t>check_space_needed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cleanup_logfiles</a:t>
            </a:r>
            <a:r>
              <a:rPr lang="en-GB" sz="1400" dirty="0"/>
              <a:t>()</a:t>
            </a:r>
          </a:p>
          <a:p>
            <a:r>
              <a:rPr lang="en-GB" sz="1400" dirty="0" err="1">
                <a:highlight>
                  <a:srgbClr val="FFFF00"/>
                </a:highlight>
              </a:rPr>
              <a:t>cleanup_old_kernels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facts_only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get_additional_repos</a:t>
            </a:r>
            <a:r>
              <a:rPr lang="en-GB" sz="1400" dirty="0"/>
              <a:t>()</a:t>
            </a:r>
          </a:p>
          <a:p>
            <a:r>
              <a:rPr lang="en-GB" sz="1400" dirty="0" err="1">
                <a:highlight>
                  <a:srgbClr val="FFFF00"/>
                </a:highlight>
              </a:rPr>
              <a:t>is_reboot_necessary</a:t>
            </a:r>
            <a:r>
              <a:rPr lang="en-GB" sz="1400" dirty="0"/>
              <a:t>()</a:t>
            </a:r>
          </a:p>
          <a:p>
            <a:r>
              <a:rPr lang="en-GB" sz="1400" dirty="0" err="1">
                <a:highlight>
                  <a:srgbClr val="FFFF00"/>
                </a:highlight>
              </a:rPr>
              <a:t>is_updates_available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is_updates_available_rhel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is_updates_available_sles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is_updatesystem_globally_enabled</a:t>
            </a:r>
            <a:r>
              <a:rPr lang="en-GB" sz="1400" dirty="0"/>
              <a:t>()</a:t>
            </a:r>
          </a:p>
          <a:p>
            <a:r>
              <a:rPr lang="en-GB" sz="1400" dirty="0"/>
              <a:t>lock()</a:t>
            </a:r>
          </a:p>
          <a:p>
            <a:r>
              <a:rPr lang="en-GB" sz="1400" dirty="0" err="1"/>
              <a:t>manage_repos</a:t>
            </a:r>
            <a:r>
              <a:rPr lang="en-GB" sz="1400" dirty="0"/>
              <a:t>()</a:t>
            </a:r>
          </a:p>
          <a:p>
            <a:r>
              <a:rPr lang="en-GB" sz="1400" dirty="0">
                <a:highlight>
                  <a:srgbClr val="FFFF00"/>
                </a:highlight>
              </a:rPr>
              <a:t>reboot</a:t>
            </a:r>
            <a:r>
              <a:rPr lang="en-GB" sz="1400" dirty="0"/>
              <a:t>()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296372D-0230-B2A7-ABD2-415876E535E3}"/>
              </a:ext>
            </a:extLst>
          </p:cNvPr>
          <p:cNvSpPr txBox="1">
            <a:spLocks/>
          </p:cNvSpPr>
          <p:nvPr/>
        </p:nvSpPr>
        <p:spPr>
          <a:xfrm>
            <a:off x="5749638" y="840663"/>
            <a:ext cx="3954483" cy="5576783"/>
          </a:xfrm>
          <a:prstGeom prst="rect">
            <a:avLst/>
          </a:prstGeom>
        </p:spPr>
        <p:txBody>
          <a:bodyPr vert="horz" wrap="square" lIns="248400" tIns="45720" rIns="91440" bIns="45720" rtlCol="0">
            <a:spAutoFit/>
          </a:bodyPr>
          <a:lstStyle>
            <a:lvl1pPr marL="288000" indent="-288000" algn="l" defTabSz="914400" rtl="0" eaLnBrk="1" latinLnBrk="0" hangingPunct="1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2000" b="1" kern="1200">
                <a:solidFill>
                  <a:schemeClr val="tx2"/>
                </a:solidFill>
                <a:latin typeface="DM Office" panose="02000500000000020000" pitchFamily="2" charset="0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52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40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 err="1"/>
              <a:t>restart_specified_services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run_hooks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trap_on_EXIT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trap_on_KILL</a:t>
            </a:r>
            <a:endParaRPr lang="en-GB" sz="1400" dirty="0"/>
          </a:p>
          <a:p>
            <a:r>
              <a:rPr lang="en-GB" sz="1400" dirty="0" err="1"/>
              <a:t>update_agents_rhel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update_facts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update_facts_rhel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update_rhel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update_sles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update_system</a:t>
            </a:r>
            <a:r>
              <a:rPr lang="en-GB" sz="1400" dirty="0"/>
              <a:t>()</a:t>
            </a:r>
          </a:p>
          <a:p>
            <a:r>
              <a:rPr lang="en-GB" sz="1400" dirty="0"/>
              <a:t>usage()</a:t>
            </a:r>
          </a:p>
          <a:p>
            <a:r>
              <a:rPr lang="en-GB" sz="1400" dirty="0" err="1"/>
              <a:t>with_puppet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with_reboot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with_secpatches_only</a:t>
            </a:r>
            <a:r>
              <a:rPr lang="en-GB" sz="1400" dirty="0"/>
              <a:t>()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3597814686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32A31-4D1C-8438-CA29-8EEC15B67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</a:t>
            </a:r>
            <a:r>
              <a:rPr lang="en-DE" dirty="0"/>
              <a:t>pdate-system ablauf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44A9A6-3C7A-D813-FDB0-94EADEEA0B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1963C-7175-63DB-F8D4-FB86693A4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4266874"/>
          </a:xfrm>
        </p:spPr>
        <p:txBody>
          <a:bodyPr/>
          <a:lstStyle/>
          <a:p>
            <a:r>
              <a:rPr lang="en-GB" dirty="0"/>
              <a:t>Disable/enable Repos</a:t>
            </a:r>
          </a:p>
          <a:p>
            <a:r>
              <a:rPr lang="en-GB" dirty="0">
                <a:highlight>
                  <a:srgbClr val="FFFF00"/>
                </a:highlight>
              </a:rPr>
              <a:t>Clean up old Kernels</a:t>
            </a:r>
          </a:p>
          <a:p>
            <a:r>
              <a:rPr lang="en-GB" dirty="0"/>
              <a:t>Check for sufficient Space</a:t>
            </a:r>
          </a:p>
          <a:p>
            <a:r>
              <a:rPr lang="en-GB" dirty="0"/>
              <a:t>Evaluating global Switch</a:t>
            </a:r>
          </a:p>
          <a:p>
            <a:r>
              <a:rPr lang="en-GB" dirty="0"/>
              <a:t>Deleting logfiles</a:t>
            </a:r>
          </a:p>
          <a:p>
            <a:r>
              <a:rPr lang="en-GB" dirty="0"/>
              <a:t>Run update just for some agents</a:t>
            </a:r>
          </a:p>
          <a:p>
            <a:r>
              <a:rPr lang="en-GB" u="sng" dirty="0">
                <a:highlight>
                  <a:srgbClr val="FFFF00"/>
                </a:highlight>
              </a:rPr>
              <a:t>Updates available? y/n</a:t>
            </a:r>
          </a:p>
          <a:p>
            <a:r>
              <a:rPr lang="en-GB" dirty="0"/>
              <a:t>Check for eventually running Puppet + disable Puppet</a:t>
            </a:r>
          </a:p>
        </p:txBody>
      </p:sp>
    </p:spTree>
    <p:extLst>
      <p:ext uri="{BB962C8B-B14F-4D97-AF65-F5344CB8AC3E}">
        <p14:creationId xmlns:p14="http://schemas.microsoft.com/office/powerpoint/2010/main" val="18643458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0A23-1119-B865-3006-DA5B811C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49CF3-99AF-3025-0A32-C58F7F920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</a:t>
            </a:r>
            <a:r>
              <a:rPr lang="en-DE" dirty="0"/>
              <a:t>pdate-system ablauf (2)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DFC77E-A5A5-17A3-CD4C-77F4B9BBEB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49A87-0A58-E5F6-27FA-1A910DF45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5174815"/>
          </a:xfrm>
        </p:spPr>
        <p:txBody>
          <a:bodyPr/>
          <a:lstStyle/>
          <a:p>
            <a:r>
              <a:rPr lang="en-GB" dirty="0"/>
              <a:t>K-Hooks</a:t>
            </a:r>
          </a:p>
          <a:p>
            <a:r>
              <a:rPr lang="en-GB" u="sng" dirty="0">
                <a:highlight>
                  <a:srgbClr val="FFFF00"/>
                </a:highlight>
              </a:rPr>
              <a:t>Patchen!</a:t>
            </a:r>
          </a:p>
          <a:p>
            <a:r>
              <a:rPr lang="en-GB" dirty="0"/>
              <a:t>S-Hooks</a:t>
            </a:r>
          </a:p>
          <a:p>
            <a:r>
              <a:rPr lang="en-GB" dirty="0"/>
              <a:t>Search for .</a:t>
            </a:r>
            <a:r>
              <a:rPr lang="en-GB" dirty="0" err="1"/>
              <a:t>rpmnew</a:t>
            </a:r>
            <a:r>
              <a:rPr lang="en-GB" dirty="0"/>
              <a:t>, .</a:t>
            </a:r>
            <a:r>
              <a:rPr lang="en-GB" dirty="0" err="1"/>
              <a:t>rpmsave</a:t>
            </a:r>
            <a:r>
              <a:rPr lang="en-GB" dirty="0"/>
              <a:t> and .</a:t>
            </a:r>
            <a:r>
              <a:rPr lang="en-GB" dirty="0" err="1"/>
              <a:t>rpmorigfiles</a:t>
            </a:r>
            <a:r>
              <a:rPr lang="en-GB" dirty="0"/>
              <a:t> which may need your review</a:t>
            </a:r>
          </a:p>
          <a:p>
            <a:r>
              <a:rPr lang="en-GB" dirty="0"/>
              <a:t>Checking and restarting specific services to prevent unnecessary reboot</a:t>
            </a:r>
          </a:p>
          <a:p>
            <a:r>
              <a:rPr lang="en-GB" dirty="0"/>
              <a:t>Stats</a:t>
            </a:r>
          </a:p>
          <a:p>
            <a:pPr lvl="1"/>
            <a:r>
              <a:rPr lang="en-GB" dirty="0"/>
              <a:t>Number of Patches available + Number of Security-Patches available from all Repos</a:t>
            </a:r>
          </a:p>
          <a:p>
            <a:r>
              <a:rPr lang="en-GB" dirty="0"/>
              <a:t>Enable + run Puppet</a:t>
            </a:r>
          </a:p>
          <a:p>
            <a:r>
              <a:rPr lang="en-GB" dirty="0"/>
              <a:t>write some (more) statistics for this run</a:t>
            </a:r>
          </a:p>
          <a:p>
            <a:r>
              <a:rPr lang="en-GB" dirty="0"/>
              <a:t>Reboot?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202403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4C97-B6EE-5EBF-65F0-CAA3643D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lessons-learned seit 2015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226702-A4DD-164E-219E-57BB9780E5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057400-840A-B8DD-DCAE-C117D98B0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5537860" cy="4699620"/>
          </a:xfrm>
        </p:spPr>
        <p:txBody>
          <a:bodyPr/>
          <a:lstStyle/>
          <a:p>
            <a:r>
              <a:rPr lang="en-GB" sz="1400" dirty="0"/>
              <a:t>Allow for </a:t>
            </a:r>
            <a:r>
              <a:rPr lang="en-GB" sz="1400" u="sng" dirty="0" err="1">
                <a:highlight>
                  <a:srgbClr val="FFFF00"/>
                </a:highlight>
              </a:rPr>
              <a:t>german</a:t>
            </a:r>
            <a:r>
              <a:rPr lang="en-GB" sz="1400" u="sng" dirty="0">
                <a:highlight>
                  <a:srgbClr val="FFFF00"/>
                </a:highlight>
              </a:rPr>
              <a:t> lang setting</a:t>
            </a:r>
          </a:p>
          <a:p>
            <a:r>
              <a:rPr lang="en-GB" sz="1400" dirty="0"/>
              <a:t>Fixed a problem that all systems won't be rebooted via auto-patching</a:t>
            </a:r>
          </a:p>
          <a:p>
            <a:r>
              <a:rPr lang="en-GB" sz="1400" dirty="0"/>
              <a:t>Fix </a:t>
            </a:r>
            <a:r>
              <a:rPr lang="en-GB" sz="1400" u="sng" dirty="0"/>
              <a:t>missing Option</a:t>
            </a:r>
          </a:p>
          <a:p>
            <a:r>
              <a:rPr lang="en-GB" sz="1400" dirty="0"/>
              <a:t>fix </a:t>
            </a:r>
            <a:r>
              <a:rPr lang="en-GB" sz="1400" dirty="0" err="1"/>
              <a:t>needsrestart</a:t>
            </a:r>
            <a:r>
              <a:rPr lang="en-GB" sz="1400" dirty="0"/>
              <a:t>-check in </a:t>
            </a:r>
            <a:r>
              <a:rPr lang="en-GB" sz="1400" dirty="0" err="1"/>
              <a:t>update_security.sh</a:t>
            </a:r>
            <a:endParaRPr lang="en-GB" sz="1400" dirty="0"/>
          </a:p>
          <a:p>
            <a:r>
              <a:rPr lang="en-GB" sz="1400" dirty="0"/>
              <a:t>fix </a:t>
            </a:r>
            <a:r>
              <a:rPr lang="en-GB" sz="1400" u="sng" dirty="0">
                <a:highlight>
                  <a:srgbClr val="FFFF00"/>
                </a:highlight>
              </a:rPr>
              <a:t>order</a:t>
            </a:r>
            <a:r>
              <a:rPr lang="en-GB" sz="1400" dirty="0"/>
              <a:t> of checks</a:t>
            </a:r>
          </a:p>
          <a:p>
            <a:r>
              <a:rPr lang="en-GB" sz="1400" dirty="0"/>
              <a:t>fix </a:t>
            </a:r>
            <a:r>
              <a:rPr lang="en-GB" sz="1400" u="sng" dirty="0">
                <a:highlight>
                  <a:srgbClr val="FFFF00"/>
                </a:highlight>
              </a:rPr>
              <a:t>time</a:t>
            </a:r>
            <a:r>
              <a:rPr lang="en-GB" sz="1400" dirty="0"/>
              <a:t> for hanging puppet-processes</a:t>
            </a:r>
          </a:p>
          <a:p>
            <a:r>
              <a:rPr lang="en-GB" sz="1400" dirty="0"/>
              <a:t>Fix Shutdown of Automation</a:t>
            </a:r>
          </a:p>
          <a:p>
            <a:r>
              <a:rPr lang="en-GB" sz="1400" dirty="0"/>
              <a:t>fix </a:t>
            </a:r>
            <a:r>
              <a:rPr lang="en-GB" sz="1400" u="sng" dirty="0"/>
              <a:t>'</a:t>
            </a:r>
            <a:r>
              <a:rPr lang="en-GB" sz="1400" u="sng" dirty="0">
                <a:highlight>
                  <a:srgbClr val="FFFF00"/>
                </a:highlight>
              </a:rPr>
              <a:t>check</a:t>
            </a:r>
            <a:r>
              <a:rPr lang="en-GB" sz="1400" dirty="0"/>
              <a:t> for (sec)updates'</a:t>
            </a:r>
          </a:p>
          <a:p>
            <a:r>
              <a:rPr lang="en-GB" sz="1400" dirty="0"/>
              <a:t>fix </a:t>
            </a:r>
            <a:r>
              <a:rPr lang="en-GB" sz="1400" u="sng" dirty="0">
                <a:highlight>
                  <a:srgbClr val="FFFF00"/>
                </a:highlight>
              </a:rPr>
              <a:t>dependencies</a:t>
            </a:r>
          </a:p>
          <a:p>
            <a:r>
              <a:rPr lang="en-GB" sz="1400" dirty="0"/>
              <a:t>fix </a:t>
            </a:r>
            <a:r>
              <a:rPr lang="en-GB" sz="1400" u="sng" dirty="0"/>
              <a:t>'failed to disable puppet</a:t>
            </a:r>
            <a:r>
              <a:rPr lang="en-GB" sz="1400" dirty="0"/>
              <a:t>' (due to LXOSTG-3037)</a:t>
            </a:r>
          </a:p>
          <a:p>
            <a:r>
              <a:rPr lang="en-GB" sz="1400" dirty="0"/>
              <a:t>fix </a:t>
            </a:r>
            <a:r>
              <a:rPr lang="en-GB" sz="1400" dirty="0" err="1"/>
              <a:t>updatelock</a:t>
            </a:r>
            <a:r>
              <a:rPr lang="en-GB" sz="1400" dirty="0"/>
              <a:t> for </a:t>
            </a:r>
            <a:r>
              <a:rPr lang="en-GB" sz="1400" u="sng" dirty="0">
                <a:highlight>
                  <a:srgbClr val="FFFF00"/>
                </a:highlight>
              </a:rPr>
              <a:t>non-de-domains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68B9B89-EA15-4E8B-488C-3663F28E1160}"/>
              </a:ext>
            </a:extLst>
          </p:cNvPr>
          <p:cNvSpPr txBox="1">
            <a:spLocks/>
          </p:cNvSpPr>
          <p:nvPr/>
        </p:nvSpPr>
        <p:spPr>
          <a:xfrm>
            <a:off x="6096000" y="1453977"/>
            <a:ext cx="5537860" cy="4376454"/>
          </a:xfrm>
          <a:prstGeom prst="rect">
            <a:avLst/>
          </a:prstGeom>
        </p:spPr>
        <p:txBody>
          <a:bodyPr vert="horz" wrap="square" lIns="248400" tIns="45720" rIns="91440" bIns="45720" rtlCol="0">
            <a:spAutoFit/>
          </a:bodyPr>
          <a:lstStyle>
            <a:lvl1pPr marL="288000" indent="-288000" algn="l" defTabSz="914400" rtl="0" eaLnBrk="1" latinLnBrk="0" hangingPunct="1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lang="de-DE" sz="2000" b="1" kern="1200">
                <a:solidFill>
                  <a:schemeClr val="tx2"/>
                </a:solidFill>
                <a:latin typeface="DM Office" panose="02000500000000020000" pitchFamily="2" charset="0"/>
                <a:ea typeface="+mn-ea"/>
                <a:cs typeface="+mn-cs"/>
              </a:defRPr>
            </a:lvl1pPr>
            <a:lvl2pPr marL="576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64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52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40000" indent="-2880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add same fix for </a:t>
            </a:r>
            <a:r>
              <a:rPr lang="en-GB" sz="1400" dirty="0">
                <a:highlight>
                  <a:srgbClr val="FFFF00"/>
                </a:highlight>
              </a:rPr>
              <a:t>/</a:t>
            </a:r>
            <a:r>
              <a:rPr lang="en-GB" sz="1400" u="sng" dirty="0">
                <a:highlight>
                  <a:srgbClr val="FFFF00"/>
                </a:highlight>
              </a:rPr>
              <a:t>boot</a:t>
            </a:r>
          </a:p>
          <a:p>
            <a:r>
              <a:rPr lang="en-GB" sz="1400" dirty="0"/>
              <a:t>🚑 fix </a:t>
            </a:r>
            <a:r>
              <a:rPr lang="en-GB" sz="1400" u="sng" dirty="0"/>
              <a:t>'remove old kernels</a:t>
            </a:r>
            <a:r>
              <a:rPr lang="en-GB" sz="1400" dirty="0"/>
              <a:t>' for RHEL8</a:t>
            </a:r>
          </a:p>
          <a:p>
            <a:r>
              <a:rPr lang="en-GB" sz="1400" dirty="0"/>
              <a:t>🚑 hotfix for RHEL8 due to </a:t>
            </a:r>
            <a:r>
              <a:rPr lang="en-GB" sz="1400" u="sng" dirty="0">
                <a:highlight>
                  <a:srgbClr val="FFFF00"/>
                </a:highlight>
              </a:rPr>
              <a:t>larger </a:t>
            </a:r>
            <a:r>
              <a:rPr lang="en-GB" sz="1400" u="sng" dirty="0" err="1">
                <a:highlight>
                  <a:srgbClr val="FFFF00"/>
                </a:highlight>
              </a:rPr>
              <a:t>initramfs</a:t>
            </a:r>
            <a:r>
              <a:rPr lang="en-GB" sz="1400" u="sng" dirty="0">
                <a:highlight>
                  <a:srgbClr val="FFFF00"/>
                </a:highlight>
              </a:rPr>
              <a:t>/kernel </a:t>
            </a:r>
            <a:r>
              <a:rPr lang="en-GB" sz="1400" dirty="0" err="1"/>
              <a:t>needings</a:t>
            </a:r>
            <a:endParaRPr lang="en-GB" sz="1400" dirty="0"/>
          </a:p>
          <a:p>
            <a:r>
              <a:rPr lang="en-GB" sz="1400" dirty="0"/>
              <a:t>🐛 fix </a:t>
            </a:r>
            <a:r>
              <a:rPr lang="en-GB" sz="1400" u="sng" dirty="0"/>
              <a:t>'check</a:t>
            </a:r>
            <a:r>
              <a:rPr lang="en-GB" sz="1400" dirty="0"/>
              <a:t> if uc4-agent is installed'</a:t>
            </a:r>
          </a:p>
          <a:p>
            <a:r>
              <a:rPr lang="en-GB" sz="1400" dirty="0"/>
              <a:t>🚸 fix </a:t>
            </a:r>
            <a:r>
              <a:rPr lang="en-GB" sz="1400" u="sng" dirty="0"/>
              <a:t>forced-reboot </a:t>
            </a:r>
            <a:r>
              <a:rPr lang="en-GB" sz="1400" dirty="0"/>
              <a:t>on project </a:t>
            </a:r>
            <a:r>
              <a:rPr lang="en-GB" sz="1400" dirty="0" err="1"/>
              <a:t>bla</a:t>
            </a:r>
            <a:endParaRPr lang="en-GB" sz="1400" dirty="0"/>
          </a:p>
          <a:p>
            <a:r>
              <a:rPr lang="en-GB" sz="1400" dirty="0"/>
              <a:t>fix </a:t>
            </a:r>
            <a:r>
              <a:rPr lang="en-GB" sz="1400" u="sng" dirty="0"/>
              <a:t>force reboot </a:t>
            </a:r>
            <a:r>
              <a:rPr lang="en-GB" sz="1400" dirty="0"/>
              <a:t>due too high uptime</a:t>
            </a:r>
          </a:p>
          <a:p>
            <a:r>
              <a:rPr lang="en-GB" sz="1400" b="0" dirty="0"/>
              <a:t>fix </a:t>
            </a:r>
            <a:r>
              <a:rPr lang="en-GB" sz="1400" b="0" u="sng" dirty="0" err="1"/>
              <a:t>osmajors</a:t>
            </a:r>
            <a:r>
              <a:rPr lang="en-GB" sz="1400" b="0" dirty="0"/>
              <a:t> for 6 and 7</a:t>
            </a:r>
          </a:p>
          <a:p>
            <a:r>
              <a:rPr lang="en-GB" sz="1400" b="0" dirty="0"/>
              <a:t>fix rescue block for </a:t>
            </a:r>
            <a:r>
              <a:rPr lang="en-GB" sz="1400" b="0" u="sng" dirty="0"/>
              <a:t>puppet 4</a:t>
            </a:r>
          </a:p>
          <a:p>
            <a:r>
              <a:rPr lang="en-GB" sz="1400" dirty="0"/>
              <a:t>fix </a:t>
            </a:r>
            <a:r>
              <a:rPr lang="en-GB" sz="1400" u="sng" dirty="0" err="1">
                <a:highlight>
                  <a:srgbClr val="FFFF00"/>
                </a:highlight>
              </a:rPr>
              <a:t>Returncode</a:t>
            </a:r>
            <a:r>
              <a:rPr lang="en-GB" sz="1400" u="sng" dirty="0">
                <a:highlight>
                  <a:srgbClr val="FFFF00"/>
                </a:highlight>
              </a:rPr>
              <a:t> of Puppet</a:t>
            </a:r>
            <a:endParaRPr lang="en-GB" sz="1400" dirty="0">
              <a:highlight>
                <a:srgbClr val="FFFF00"/>
              </a:highlight>
            </a:endParaRPr>
          </a:p>
          <a:p>
            <a:r>
              <a:rPr lang="en-GB" sz="1400" b="0" dirty="0"/>
              <a:t>fix update-system for RHEL 7.8 migration</a:t>
            </a:r>
          </a:p>
          <a:p>
            <a:r>
              <a:rPr lang="en-GB" sz="1400" b="0" dirty="0"/>
              <a:t>update_rhel7x_to_rhel74.sh: fix quiet</a:t>
            </a:r>
          </a:p>
        </p:txBody>
      </p:sp>
    </p:spTree>
    <p:extLst>
      <p:ext uri="{BB962C8B-B14F-4D97-AF65-F5344CB8AC3E}">
        <p14:creationId xmlns:p14="http://schemas.microsoft.com/office/powerpoint/2010/main" val="6398516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D9FC-E513-BCCE-A732-467BC765B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56DBC-1089-2712-048A-14A7589B3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u="sng" dirty="0"/>
              <a:t>Hilfsmittel</a:t>
            </a:r>
            <a:r>
              <a:rPr lang="en-DE" dirty="0"/>
              <a:t>: Agenten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2B7289-E457-ED17-72EA-24CCFC4F0F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3EF58-7D80-099A-ED75-08DF60EEF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3093411"/>
          </a:xfrm>
        </p:spPr>
        <p:txBody>
          <a:bodyPr/>
          <a:lstStyle/>
          <a:p>
            <a:r>
              <a:rPr lang="en-DE" dirty="0"/>
              <a:t>“Automation-Workflow” (SAP und DWH)</a:t>
            </a:r>
          </a:p>
          <a:p>
            <a:pPr lvl="1"/>
            <a:r>
              <a:rPr lang="en-DE" dirty="0"/>
              <a:t>Stop Verarbeitung				(betrifft 1-n Linux Server wie z.B. DB-Cluster über n VMs)</a:t>
            </a:r>
          </a:p>
          <a:p>
            <a:pPr lvl="1"/>
            <a:r>
              <a:rPr lang="en-DE" dirty="0"/>
              <a:t>Stop Anwendung				(“pre-update.d” / “K-Hooks”)</a:t>
            </a:r>
          </a:p>
          <a:p>
            <a:pPr lvl="1"/>
            <a:r>
              <a:rPr lang="en-DE" dirty="0"/>
              <a:t>V</a:t>
            </a:r>
            <a:r>
              <a:rPr lang="en-GB" dirty="0"/>
              <a:t>m</a:t>
            </a:r>
            <a:r>
              <a:rPr lang="en-DE" dirty="0"/>
              <a:t>ware-Snapshot erstellen (per Foreman-API)	(“pre-update.d” / “K-Hooks”)</a:t>
            </a:r>
          </a:p>
          <a:p>
            <a:pPr lvl="1"/>
            <a:r>
              <a:rPr lang="en-DE" dirty="0"/>
              <a:t>Patchen inkl. Reboot</a:t>
            </a:r>
          </a:p>
          <a:p>
            <a:pPr lvl="1"/>
            <a:r>
              <a:rPr lang="en-DE" dirty="0"/>
              <a:t>V</a:t>
            </a:r>
            <a:r>
              <a:rPr lang="en-GB" dirty="0"/>
              <a:t>m</a:t>
            </a:r>
            <a:r>
              <a:rPr lang="en-DE" dirty="0"/>
              <a:t>ware-Snapshot löschen			(“post-update.d” / “S-Hooks”)</a:t>
            </a:r>
          </a:p>
          <a:p>
            <a:pPr lvl="1"/>
            <a:r>
              <a:rPr lang="en-DE" dirty="0"/>
              <a:t>Start Anwendung				(“post-update.d” / “S-Hooks”)</a:t>
            </a:r>
          </a:p>
          <a:p>
            <a:pPr lvl="1"/>
            <a:r>
              <a:rPr lang="en-DE" dirty="0"/>
              <a:t>Start Verarbeitung</a:t>
            </a:r>
          </a:p>
        </p:txBody>
      </p:sp>
    </p:spTree>
    <p:extLst>
      <p:ext uri="{BB962C8B-B14F-4D97-AF65-F5344CB8AC3E}">
        <p14:creationId xmlns:p14="http://schemas.microsoft.com/office/powerpoint/2010/main" val="2624181769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90B8B76-312C-C203-CBAF-B129CA44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Patching-infos… everywhere!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12392B-EF88-81DB-6E53-FED7446461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23</a:t>
            </a:fld>
            <a:endParaRPr lang="de-DE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7298F2-AE69-322C-2E61-A3EB1CD62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134" y="4048724"/>
            <a:ext cx="5918200" cy="18161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DE003ED-29C7-075C-7CED-2DBA05D33FE8}"/>
              </a:ext>
            </a:extLst>
          </p:cNvPr>
          <p:cNvSpPr txBox="1"/>
          <p:nvPr/>
        </p:nvSpPr>
        <p:spPr>
          <a:xfrm>
            <a:off x="843706" y="5384305"/>
            <a:ext cx="9397124" cy="110799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l"/>
            <a:r>
              <a:rPr lang="en-DE" u="sng" dirty="0"/>
              <a:t>Häufigste</a:t>
            </a:r>
            <a:r>
              <a:rPr lang="en-DE" dirty="0"/>
              <a:t> Fehlerquellen:</a:t>
            </a:r>
          </a:p>
          <a:p>
            <a:pPr algn="l"/>
            <a:r>
              <a:rPr lang="en-DE" dirty="0"/>
              <a:t>#1 Filesysteme zu klein!!!</a:t>
            </a:r>
          </a:p>
          <a:p>
            <a:pPr algn="l"/>
            <a:r>
              <a:rPr lang="en-DE" dirty="0"/>
              <a:t>#2 Dependencies bei manuell (nicht aus den bereitgestellten Repos) installierten Paketen!</a:t>
            </a:r>
          </a:p>
          <a:p>
            <a:pPr algn="l"/>
            <a:r>
              <a:rPr lang="en-DE" dirty="0">
                <a:sym typeface="Wingdings" pitchFamily="2" charset="2"/>
              </a:rPr>
              <a:t> Hooks zum Vor-/Nachbereiten, Extra-Repos möglich, muss man aber auch explizit nutzen…</a:t>
            </a:r>
            <a:endParaRPr lang="en-DE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3B593E-CA5B-E194-35D1-9DFE878E01B5}"/>
              </a:ext>
            </a:extLst>
          </p:cNvPr>
          <p:cNvGrpSpPr/>
          <p:nvPr/>
        </p:nvGrpSpPr>
        <p:grpSpPr>
          <a:xfrm>
            <a:off x="915388" y="994024"/>
            <a:ext cx="7772401" cy="2714728"/>
            <a:chOff x="915388" y="1126228"/>
            <a:chExt cx="7772401" cy="271472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3D8EA33-7FA6-1F01-4208-5DAFF5850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5389" y="1126228"/>
              <a:ext cx="7772400" cy="2714728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B6846-0B7F-72DB-A054-06A132C6AD06}"/>
                </a:ext>
              </a:extLst>
            </p:cNvPr>
            <p:cNvSpPr/>
            <p:nvPr/>
          </p:nvSpPr>
          <p:spPr>
            <a:xfrm>
              <a:off x="1710046" y="1126229"/>
              <a:ext cx="3396343" cy="172800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 anchor="ctr">
              <a:noAutofit/>
            </a:bodyPr>
            <a:lstStyle/>
            <a:p>
              <a:pPr algn="l"/>
              <a:endParaRPr lang="en-DE" sz="1050" dirty="0">
                <a:solidFill>
                  <a:sysClr val="windowText" lastClr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E8DA504-C6E5-AAB5-403D-B16810279100}"/>
                </a:ext>
              </a:extLst>
            </p:cNvPr>
            <p:cNvSpPr/>
            <p:nvPr/>
          </p:nvSpPr>
          <p:spPr>
            <a:xfrm>
              <a:off x="2491838" y="1391918"/>
              <a:ext cx="1142011" cy="172800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 anchor="ctr">
              <a:noAutofit/>
            </a:bodyPr>
            <a:lstStyle/>
            <a:p>
              <a:pPr algn="l"/>
              <a:endParaRPr lang="en-DE" sz="1050" dirty="0">
                <a:solidFill>
                  <a:sysClr val="windowText" lastClr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65E3C5-0ADD-A371-C261-CC14CE4A281A}"/>
                </a:ext>
              </a:extLst>
            </p:cNvPr>
            <p:cNvSpPr/>
            <p:nvPr/>
          </p:nvSpPr>
          <p:spPr>
            <a:xfrm>
              <a:off x="3170712" y="2735943"/>
              <a:ext cx="5517077" cy="27269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 anchor="ctr">
              <a:noAutofit/>
            </a:bodyPr>
            <a:lstStyle/>
            <a:p>
              <a:pPr algn="l"/>
              <a:endParaRPr lang="en-DE" sz="1050" dirty="0">
                <a:solidFill>
                  <a:sysClr val="windowText" lastClr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DC92B7-E623-E88A-C84A-DFE3E7490F8E}"/>
                </a:ext>
              </a:extLst>
            </p:cNvPr>
            <p:cNvSpPr/>
            <p:nvPr/>
          </p:nvSpPr>
          <p:spPr>
            <a:xfrm>
              <a:off x="2620487" y="3174433"/>
              <a:ext cx="2759034" cy="22803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 anchor="ctr">
              <a:noAutofit/>
            </a:bodyPr>
            <a:lstStyle/>
            <a:p>
              <a:pPr algn="l"/>
              <a:endParaRPr lang="en-DE" sz="1050" dirty="0">
                <a:solidFill>
                  <a:sysClr val="windowText" lastClr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41390B-A9E8-DF8B-409C-9155B184C200}"/>
                </a:ext>
              </a:extLst>
            </p:cNvPr>
            <p:cNvSpPr/>
            <p:nvPr/>
          </p:nvSpPr>
          <p:spPr>
            <a:xfrm>
              <a:off x="2049482" y="3668155"/>
              <a:ext cx="729344" cy="15891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 anchor="ctr">
              <a:noAutofit/>
            </a:bodyPr>
            <a:lstStyle/>
            <a:p>
              <a:pPr algn="l"/>
              <a:endParaRPr lang="en-DE" sz="1050" dirty="0">
                <a:solidFill>
                  <a:sysClr val="windowText" lastClr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3211E9-7AAB-D9AB-C313-FEE920F45D5F}"/>
                </a:ext>
              </a:extLst>
            </p:cNvPr>
            <p:cNvSpPr/>
            <p:nvPr/>
          </p:nvSpPr>
          <p:spPr>
            <a:xfrm>
              <a:off x="2049482" y="1944353"/>
              <a:ext cx="5325095" cy="144000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rtlCol="0" anchor="ctr">
              <a:noAutofit/>
            </a:bodyPr>
            <a:lstStyle/>
            <a:p>
              <a:pPr algn="l"/>
              <a:endParaRPr lang="en-DE" sz="1050" dirty="0">
                <a:solidFill>
                  <a:sysClr val="windowText" lastClr="00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8D17EE1A-F661-078D-4A83-A6BFEBE3C265}"/>
                </a:ext>
              </a:extLst>
            </p:cNvPr>
            <p:cNvSpPr/>
            <p:nvPr/>
          </p:nvSpPr>
          <p:spPr>
            <a:xfrm>
              <a:off x="915388" y="2054917"/>
              <a:ext cx="3799115" cy="228035"/>
            </a:xfrm>
            <a:prstGeom prst="frame">
              <a:avLst/>
            </a:prstGeom>
            <a:solidFill>
              <a:srgbClr val="FFFF00"/>
            </a:solidFill>
          </p:spPr>
          <p:txBody>
            <a:bodyPr wrap="none" rtlCol="0" anchor="ctr">
              <a:noAutofit/>
            </a:bodyPr>
            <a:lstStyle/>
            <a:p>
              <a:pPr algn="l"/>
              <a:endParaRPr lang="en-DE" sz="1050" dirty="0">
                <a:solidFill>
                  <a:schemeClr val="tx2"/>
                </a:solidFill>
                <a:cs typeface="Arial" panose="020B0604020202020204" pitchFamily="34" charset="0"/>
              </a:endParaRPr>
            </a:p>
          </p:txBody>
        </p:sp>
      </p:grpSp>
      <p:pic>
        <p:nvPicPr>
          <p:cNvPr id="8196" name="Picture 4" descr="SSH-Keys erstellen und einrichten » DecaTec">
            <a:extLst>
              <a:ext uri="{FF2B5EF4-FFF2-40B4-BE49-F238E27FC236}">
                <a16:creationId xmlns:a16="http://schemas.microsoft.com/office/drawing/2014/main" id="{513F8F1D-DA2C-D597-A729-5E507BA9D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573" y="994517"/>
            <a:ext cx="670873" cy="67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LAN-Monitor.de – Seite 2 – Netzwerk, Monitoring und OpenSource">
            <a:extLst>
              <a:ext uri="{FF2B5EF4-FFF2-40B4-BE49-F238E27FC236}">
                <a16:creationId xmlns:a16="http://schemas.microsoft.com/office/drawing/2014/main" id="{87503020-CA6F-39C5-5455-020248913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3161" y="4048724"/>
            <a:ext cx="778396" cy="720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299E69-B34D-2790-B302-2D4BF52D4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7534" y="4083449"/>
            <a:ext cx="5753100" cy="1752600"/>
          </a:xfrm>
          <a:prstGeom prst="rect">
            <a:avLst/>
          </a:prstGeom>
        </p:spPr>
      </p:pic>
      <p:pic>
        <p:nvPicPr>
          <p:cNvPr id="1026" name="Picture 2" descr="HOCH DIE HÄNDE WOCHENENDE Sprüche Fun Gelb Auto Vinyl Decal Sticker ...">
            <a:extLst>
              <a:ext uri="{FF2B5EF4-FFF2-40B4-BE49-F238E27FC236}">
                <a16:creationId xmlns:a16="http://schemas.microsoft.com/office/drawing/2014/main" id="{7426DB96-6767-0A20-C94F-E6D6D552F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4723" y="5084214"/>
            <a:ext cx="1040956" cy="1040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95838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4C6711-17B5-A159-1920-692FB6748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„Monitoring“ des </a:t>
            </a:r>
            <a:r>
              <a:rPr lang="de-DE" dirty="0" err="1"/>
              <a:t>patchens</a:t>
            </a:r>
            <a:endParaRPr lang="en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9B5857-7774-3DC1-8622-DA8FEF185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24</a:t>
            </a:fld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2ACA02-5654-DC3B-76BE-80EFA0759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10" y="888981"/>
            <a:ext cx="7772400" cy="5467369"/>
          </a:xfrm>
          <a:prstGeom prst="rect">
            <a:avLst/>
          </a:prstGeom>
        </p:spPr>
      </p:pic>
      <p:pic>
        <p:nvPicPr>
          <p:cNvPr id="12" name="Picture 11" descr="beats logo">
            <a:extLst>
              <a:ext uri="{FF2B5EF4-FFF2-40B4-BE49-F238E27FC236}">
                <a16:creationId xmlns:a16="http://schemas.microsoft.com/office/drawing/2014/main" id="{9040A5B1-134C-F102-E871-28CE6C93E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591" y="888981"/>
            <a:ext cx="718469" cy="61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2343945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6D79-82F5-7468-6B6E-892C31C5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E25D44-4E36-0BBB-D6EF-F255E0916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„Monitoring“ des (nicht-)</a:t>
            </a:r>
            <a:r>
              <a:rPr lang="de-DE" dirty="0" err="1"/>
              <a:t>patchens</a:t>
            </a:r>
            <a:r>
              <a:rPr lang="de-DE" dirty="0"/>
              <a:t> oder irgendwas-vergessens</a:t>
            </a:r>
            <a:endParaRPr lang="en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D1A6C0-919A-A833-85C1-EA088A91F4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25</a:t>
            </a:fld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D1CA8A-3772-0121-A4E2-DD72514E2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47" y="1635723"/>
            <a:ext cx="7772400" cy="1596826"/>
          </a:xfrm>
          <a:prstGeom prst="rect">
            <a:avLst/>
          </a:prstGeom>
        </p:spPr>
      </p:pic>
      <p:pic>
        <p:nvPicPr>
          <p:cNvPr id="2" name="Picture 1" descr="beats logo">
            <a:extLst>
              <a:ext uri="{FF2B5EF4-FFF2-40B4-BE49-F238E27FC236}">
                <a16:creationId xmlns:a16="http://schemas.microsoft.com/office/drawing/2014/main" id="{1FB75AEE-2112-9903-AAC9-862A6BB97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015" y="1635723"/>
            <a:ext cx="718469" cy="61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590612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0534-00D7-CD8E-8777-B74D5A5C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TL;DR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D6496-0E4B-77A0-0223-36A14F575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DCCAB-98D2-7B52-08ED-D627AA29D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4632294"/>
          </a:xfrm>
        </p:spPr>
        <p:txBody>
          <a:bodyPr/>
          <a:lstStyle/>
          <a:p>
            <a:r>
              <a:rPr lang="en-DE" dirty="0"/>
              <a:t>Kenne Deine Kunden/Systeme!</a:t>
            </a:r>
          </a:p>
          <a:p>
            <a:pPr lvl="1"/>
            <a:r>
              <a:rPr lang="en-GB" dirty="0"/>
              <a:t>W</a:t>
            </a:r>
            <a:r>
              <a:rPr lang="en-DE" dirty="0"/>
              <a:t>as lässt sich wann und wie (SystemD-Timer, Cronjob) patchen?</a:t>
            </a:r>
          </a:p>
          <a:p>
            <a:pPr lvl="1"/>
            <a:r>
              <a:rPr lang="en-DE" dirty="0"/>
              <a:t>Wer patch lieber selber und wie (manuell, Ansible, “Agent”)?</a:t>
            </a:r>
          </a:p>
          <a:p>
            <a:r>
              <a:rPr lang="en-DE" dirty="0"/>
              <a:t>Stelle Tools und Infrastruktur bereit!</a:t>
            </a:r>
          </a:p>
          <a:p>
            <a:pPr lvl="1"/>
            <a:r>
              <a:rPr lang="en-GB" dirty="0"/>
              <a:t>F</a:t>
            </a:r>
            <a:r>
              <a:rPr lang="en-DE" dirty="0"/>
              <a:t>ürs ”Patching as a Service”-rundum-sorglos-Paket</a:t>
            </a:r>
          </a:p>
          <a:p>
            <a:pPr lvl="1"/>
            <a:r>
              <a:rPr lang="en-DE" dirty="0"/>
              <a:t>Fürs Patchen allgemein, für Minor-Version-Updates (EUS bei RHEL und ServicePacks bei SLES)</a:t>
            </a:r>
          </a:p>
          <a:p>
            <a:pPr lvl="2"/>
            <a:r>
              <a:rPr lang="en-DE" dirty="0"/>
              <a:t>Puppet-Hiera bei RHEL</a:t>
            </a:r>
          </a:p>
          <a:p>
            <a:pPr lvl="2"/>
            <a:r>
              <a:rPr lang="en-DE" dirty="0"/>
              <a:t>Skript bei SLES</a:t>
            </a:r>
          </a:p>
          <a:p>
            <a:r>
              <a:rPr lang="en-DE" dirty="0"/>
              <a:t>Aufwand und Kosten eines Sicherheitsvorfalls</a:t>
            </a:r>
            <a:br>
              <a:rPr lang="en-DE" dirty="0"/>
            </a:br>
            <a:r>
              <a:rPr lang="en-DE" dirty="0"/>
              <a:t>oder gar eines erfolgreichen Angriffs sind viel größer als</a:t>
            </a:r>
          </a:p>
          <a:p>
            <a:pPr lvl="1"/>
            <a:r>
              <a:rPr lang="en-GB" dirty="0"/>
              <a:t>g</a:t>
            </a:r>
            <a:r>
              <a:rPr lang="en-DE" dirty="0"/>
              <a:t>ar nicht oder immer nur manuell zu patchen!!!</a:t>
            </a:r>
          </a:p>
        </p:txBody>
      </p:sp>
    </p:spTree>
    <p:extLst>
      <p:ext uri="{BB962C8B-B14F-4D97-AF65-F5344CB8AC3E}">
        <p14:creationId xmlns:p14="http://schemas.microsoft.com/office/powerpoint/2010/main" val="790203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B53A-7ABF-5BAD-7202-0CA7E82A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</a:t>
            </a:r>
            <a:r>
              <a:rPr lang="en-DE" dirty="0"/>
              <a:t>in paar stats zum ende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A44206-E7AD-1A6D-A020-794A340C2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8B3FE-D52D-4C47-8549-63ED2E5F079E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CDA72-C592-5899-CFDF-B8DDC5A8F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140" y="1458450"/>
            <a:ext cx="10842172" cy="4940070"/>
          </a:xfrm>
        </p:spPr>
        <p:txBody>
          <a:bodyPr/>
          <a:lstStyle/>
          <a:p>
            <a:r>
              <a:rPr lang="en-GB" dirty="0"/>
              <a:t>All-In-100%-A</a:t>
            </a:r>
            <a:r>
              <a:rPr lang="en-DE" dirty="0"/>
              <a:t>utopatching: 30% ✅</a:t>
            </a:r>
          </a:p>
          <a:p>
            <a:r>
              <a:rPr lang="en-DE" dirty="0"/>
              <a:t>Patching manuell/Ansible: 29%</a:t>
            </a:r>
          </a:p>
          <a:p>
            <a:r>
              <a:rPr lang="en-DE" dirty="0"/>
              <a:t>Patching automatisch per GitLab-Ansible-Pipeline: 4%</a:t>
            </a:r>
          </a:p>
          <a:p>
            <a:r>
              <a:rPr lang="en-DE" dirty="0"/>
              <a:t>Patching automatisch per “Agent”: 37%</a:t>
            </a:r>
          </a:p>
          <a:p>
            <a:r>
              <a:rPr lang="en-DE" dirty="0">
                <a:highlight>
                  <a:srgbClr val="FFFF00"/>
                </a:highlight>
              </a:rPr>
              <a:t>Systeme, die “update-system” </a:t>
            </a:r>
            <a:r>
              <a:rPr lang="en-DE" u="sng" dirty="0">
                <a:highlight>
                  <a:srgbClr val="FFFF00"/>
                </a:highlight>
              </a:rPr>
              <a:t>nicht</a:t>
            </a:r>
            <a:r>
              <a:rPr lang="en-DE" dirty="0">
                <a:highlight>
                  <a:srgbClr val="FFFF00"/>
                </a:highlight>
              </a:rPr>
              <a:t> benutzen: 0% ✅</a:t>
            </a:r>
          </a:p>
          <a:p>
            <a:r>
              <a:rPr lang="en-DE" dirty="0">
                <a:highlight>
                  <a:srgbClr val="FFFF00"/>
                </a:highlight>
              </a:rPr>
              <a:t>Systeme, die vollautomatisch gepatcht werden: 71% ✅</a:t>
            </a:r>
            <a:br>
              <a:rPr lang="en-DE" dirty="0">
                <a:highlight>
                  <a:srgbClr val="FFFF00"/>
                </a:highlight>
              </a:rPr>
            </a:br>
            <a:endParaRPr lang="en-DE" dirty="0"/>
          </a:p>
          <a:p>
            <a:r>
              <a:rPr lang="en-DE" dirty="0"/>
              <a:t>Laufender Aufwand:</a:t>
            </a:r>
          </a:p>
          <a:p>
            <a:pPr lvl="1"/>
            <a:r>
              <a:rPr lang="en-GB" dirty="0"/>
              <a:t>s</a:t>
            </a:r>
            <a:r>
              <a:rPr lang="en-DE" dirty="0"/>
              <a:t>olange das Monitoring ruhig bleibt: </a:t>
            </a:r>
            <a:r>
              <a:rPr lang="en-DE" u="sng" dirty="0"/>
              <a:t>KEIN</a:t>
            </a:r>
            <a:r>
              <a:rPr lang="en-DE" dirty="0"/>
              <a:t> Aufwand</a:t>
            </a:r>
          </a:p>
          <a:p>
            <a:pPr lvl="1"/>
            <a:r>
              <a:rPr lang="en-DE" dirty="0"/>
              <a:t>sonst: ab und zu mal ein Filesystem (bzw. propylaktisch auf mehreren Servern) vergrößern</a:t>
            </a:r>
          </a:p>
        </p:txBody>
      </p:sp>
    </p:spTree>
    <p:extLst>
      <p:ext uri="{BB962C8B-B14F-4D97-AF65-F5344CB8AC3E}">
        <p14:creationId xmlns:p14="http://schemas.microsoft.com/office/powerpoint/2010/main" val="1151001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C58DF7B-9FB2-4299-8B7D-BD3C7269E2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/>
              <a:t>Vielen Dank.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C1B04A-107B-46DD-A1A5-53321A7AAD7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505950" y="6356350"/>
            <a:ext cx="2686050" cy="365125"/>
          </a:xfrm>
        </p:spPr>
        <p:txBody>
          <a:bodyPr/>
          <a:lstStyle/>
          <a:p>
            <a:fld id="{6008B3FE-D52D-4C47-8549-63ED2E5F079E}" type="slidenum">
              <a:rPr lang="de-DE" smtClean="0"/>
              <a:pPr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978983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mTECH">
  <a:themeElements>
    <a:clrScheme name="dmTECH">
      <a:dk1>
        <a:sysClr val="windowText" lastClr="000000"/>
      </a:dk1>
      <a:lt1>
        <a:sysClr val="window" lastClr="FFFFFF"/>
      </a:lt1>
      <a:dk2>
        <a:srgbClr val="373737"/>
      </a:dk2>
      <a:lt2>
        <a:srgbClr val="C5C6C8"/>
      </a:lt2>
      <a:accent1>
        <a:srgbClr val="49439B"/>
      </a:accent1>
      <a:accent2>
        <a:srgbClr val="DA4C37"/>
      </a:accent2>
      <a:accent3>
        <a:srgbClr val="A082C0"/>
      </a:accent3>
      <a:accent4>
        <a:srgbClr val="55B7D7"/>
      </a:accent4>
      <a:accent5>
        <a:srgbClr val="5DBDAE"/>
      </a:accent5>
      <a:accent6>
        <a:srgbClr val="DC738B"/>
      </a:accent6>
      <a:hlink>
        <a:srgbClr val="002060"/>
      </a:hlink>
      <a:folHlink>
        <a:srgbClr val="0070C0"/>
      </a:folHlink>
    </a:clrScheme>
    <a:fontScheme name="dmTECH">
      <a:majorFont>
        <a:latin typeface="DM Office"/>
        <a:ea typeface=""/>
        <a:cs typeface=""/>
      </a:majorFont>
      <a:minorFont>
        <a:latin typeface="DM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noAutofit/>
      </a:bodyPr>
      <a:lstStyle>
        <a:defPPr algn="l">
          <a:defRPr sz="1050" dirty="0">
            <a:solidFill>
              <a:schemeClr val="tx2"/>
            </a:solidFill>
            <a:cs typeface="Arial" panose="020B0604020202020204" pitchFamily="34" charset="0"/>
          </a:defRPr>
        </a:defPPr>
      </a:lst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spAutoFit/>
      </a:bodyPr>
      <a:lstStyle>
        <a:defPPr algn="l">
          <a:defRPr dirty="0" smtClean="0">
            <a:solidFill>
              <a:schemeClr val="accent3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mTECH_Unternehmenspräsentation-2024" id="{F4C1EBB3-06F1-3646-8104-EDF2D1EB4A8E}" vid="{E5E6A5FF-E91A-3641-AA2A-E101DED49704}"/>
    </a:ext>
  </a:extLst>
</a:theme>
</file>

<file path=ppt/theme/theme2.xml><?xml version="1.0" encoding="utf-8"?>
<a:theme xmlns:a="http://schemas.openxmlformats.org/drawingml/2006/main" name="Office">
  <a:themeElements>
    <a:clrScheme name="dmTECH">
      <a:dk1>
        <a:sysClr val="windowText" lastClr="000000"/>
      </a:dk1>
      <a:lt1>
        <a:sysClr val="window" lastClr="FFFFFF"/>
      </a:lt1>
      <a:dk2>
        <a:srgbClr val="373737"/>
      </a:dk2>
      <a:lt2>
        <a:srgbClr val="C5C6C8"/>
      </a:lt2>
      <a:accent1>
        <a:srgbClr val="49439B"/>
      </a:accent1>
      <a:accent2>
        <a:srgbClr val="DA4C37"/>
      </a:accent2>
      <a:accent3>
        <a:srgbClr val="A082C0"/>
      </a:accent3>
      <a:accent4>
        <a:srgbClr val="55B7D7"/>
      </a:accent4>
      <a:accent5>
        <a:srgbClr val="5DBDAE"/>
      </a:accent5>
      <a:accent6>
        <a:srgbClr val="DC738B"/>
      </a:accent6>
      <a:hlink>
        <a:srgbClr val="002060"/>
      </a:hlink>
      <a:folHlink>
        <a:srgbClr val="0070C0"/>
      </a:folHlink>
    </a:clrScheme>
    <a:fontScheme name="dmTECH">
      <a:majorFont>
        <a:latin typeface="DM Office"/>
        <a:ea typeface=""/>
        <a:cs typeface=""/>
      </a:majorFont>
      <a:minorFont>
        <a:latin typeface="DM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56BA7DDACF68A4BB0AFDA33EAE94F34" ma:contentTypeVersion="19" ma:contentTypeDescription="Ein neues Dokument erstellen." ma:contentTypeScope="" ma:versionID="6789fbdc6a8ef768606e510bde5eaf8b">
  <xsd:schema xmlns:xsd="http://www.w3.org/2001/XMLSchema" xmlns:xs="http://www.w3.org/2001/XMLSchema" xmlns:p="http://schemas.microsoft.com/office/2006/metadata/properties" xmlns:ns1="http://schemas.microsoft.com/sharepoint/v3" xmlns:ns2="0017d5b8-0d85-46f1-b229-f43bf6e8c727" xmlns:ns3="257b14a8-b743-4a5e-bba5-4cc81d9172b0" targetNamespace="http://schemas.microsoft.com/office/2006/metadata/properties" ma:root="true" ma:fieldsID="4db0619f05fffba733272e3233062822" ns1:_="" ns2:_="" ns3:_="">
    <xsd:import namespace="http://schemas.microsoft.com/sharepoint/v3"/>
    <xsd:import namespace="0017d5b8-0d85-46f1-b229-f43bf6e8c727"/>
    <xsd:import namespace="257b14a8-b743-4a5e-bba5-4cc81d9172b0"/>
    <xsd:element name="properties">
      <xsd:complexType>
        <xsd:sequence>
          <xsd:element name="documentManagement">
            <xsd:complexType>
              <xsd:all>
                <xsd:element ref="ns1:DocumentSetDescription" minOccurs="0"/>
                <xsd:element ref="ns2:Verantwortlichkeit" minOccurs="0"/>
                <xsd:element ref="ns3:_dlc_DocIdUrl" minOccurs="0"/>
                <xsd:element ref="ns3:_dlc_DocId" minOccurs="0"/>
                <xsd:element ref="ns3:_dlc_DocIdPersistId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Filial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DocumentSetDescription" ma:index="1" nillable="true" ma:displayName="Beschreibung" ma:description="Eine Beschreibung der Dokumentenmappe" ma:internalName="DocumentSetDescription" ma:readOnly="fals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17d5b8-0d85-46f1-b229-f43bf6e8c727" elementFormDefault="qualified">
    <xsd:import namespace="http://schemas.microsoft.com/office/2006/documentManagement/types"/>
    <xsd:import namespace="http://schemas.microsoft.com/office/infopath/2007/PartnerControls"/>
    <xsd:element name="Verantwortlichkeit" ma:index="3" nillable="true" ma:displayName="Verantwortlichkeit" ma:format="Dropdown" ma:list="UserInfo" ma:SharePointGroup="0" ma:internalName="Verantwortlichkeit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Filiale" ma:index="23" nillable="true" ma:displayName="Filiale" ma:default="0" ma:description="Ist diese Vorlage für die Verwendung in der Filiale geeignet?" ma:format="Dropdown" ma:internalName="Filiale">
      <xsd:simpleType>
        <xsd:restriction base="dms:Boolea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7b14a8-b743-4a5e-bba5-4cc81d9172b0" elementFormDefault="qualified">
    <xsd:import namespace="http://schemas.microsoft.com/office/2006/documentManagement/types"/>
    <xsd:import namespace="http://schemas.microsoft.com/office/infopath/2007/PartnerControls"/>
    <xsd:element name="_dlc_DocIdUrl" ma:index="4" nillable="true" ma:displayName="Dokument-ID" ma:description="Permanenter Hyperlink zu diesem Dok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" ma:index="8" nillable="true" ma:displayName="Wert der Dokument-ID" ma:description="Der Wert der diesem Element zugewiesenen Dokument-ID." ma:hidden="true" ma:internalName="_dlc_DocId" ma:readOnly="false">
      <xsd:simpleType>
        <xsd:restriction base="dms:Text"/>
      </xsd:simpleType>
    </xsd:element>
    <xsd:element name="_dlc_DocIdPersistId" ma:index="10" nillable="true" ma:displayName="Persist ID" ma:description="Keep ID on add." ma:hidden="true" ma:internalName="_dlc_DocIdPersistId" ma:readOnly="false">
      <xsd:simpleType>
        <xsd:restriction base="dms:Boolean"/>
      </xsd:simple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altstyp"/>
        <xsd:element ref="dc:title" minOccurs="0" maxOccurs="1" ma:index="2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57b14a8-b743-4a5e-bba5-4cc81d9172b0">
      <UserInfo>
        <DisplayName>Murr, Niklas</DisplayName>
        <AccountId>33</AccountId>
        <AccountType/>
      </UserInfo>
      <UserInfo>
        <DisplayName>Neu, Maximilian</DisplayName>
        <AccountId>25</AccountId>
        <AccountType/>
      </UserInfo>
      <UserInfo>
        <DisplayName>Sollner, Paula</DisplayName>
        <AccountId>60</AccountId>
        <AccountType/>
      </UserInfo>
    </SharedWithUsers>
    <_dlc_DocIdPersistId xmlns="257b14a8-b743-4a5e-bba5-4cc81d9172b0" xsi:nil="true"/>
    <DocumentSetDescription xmlns="http://schemas.microsoft.com/sharepoint/v3">dmTECH Unternehmenspräsentation Stand 21.01.2025</DocumentSetDescription>
    <Verantwortlichkeit xmlns="0017d5b8-0d85-46f1-b229-f43bf6e8c727">
      <UserInfo>
        <DisplayName>Waible, Jennifer</DisplayName>
        <AccountId>46855</AccountId>
        <AccountType/>
      </UserInfo>
    </Verantwortlichkeit>
    <_dlc_DocIdUrl xmlns="257b14a8-b743-4a5e-bba5-4cc81d9172b0">
      <Url>https://dmdrogerie.sharepoint.com/sites/Templates/_layouts/15/DocIdRedir.aspx?ID=TEMPLATE-633417806-1749</Url>
      <Description>TEMPLATE-633417806-1749</Description>
    </_dlc_DocIdUrl>
    <_dlc_DocId xmlns="257b14a8-b743-4a5e-bba5-4cc81d9172b0">TEMPLATE-633417806-1749</_dlc_DocId>
    <Filiale xmlns="0017d5b8-0d85-46f1-b229-f43bf6e8c727">false</Filiale>
  </documentManagement>
</p:properties>
</file>

<file path=customXml/itemProps1.xml><?xml version="1.0" encoding="utf-8"?>
<ds:datastoreItem xmlns:ds="http://schemas.openxmlformats.org/officeDocument/2006/customXml" ds:itemID="{2F790BE8-0F54-499C-9062-685D8F57CF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FD693C-EE7B-4E0C-A520-82861E30BA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017d5b8-0d85-46f1-b229-f43bf6e8c727"/>
    <ds:schemaRef ds:uri="257b14a8-b743-4a5e-bba5-4cc81d9172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F6650C-8129-460D-A93C-EE15E4A4DDE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040FD1A-122A-4492-94DB-B6E419AF5CB5}">
  <ds:schemaRefs>
    <ds:schemaRef ds:uri="http://purl.org/dc/terms/"/>
    <ds:schemaRef ds:uri="http://purl.org/dc/elements/1.1/"/>
    <ds:schemaRef ds:uri="8864cb50-6343-4e50-8be8-47e7d16378ac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a62bc5ca-5ba5-4d4c-a82e-65f19bd65e40"/>
    <ds:schemaRef ds:uri="0d20a08e-b1bd-4452-bdb7-e2065877438b"/>
    <ds:schemaRef ds:uri="http://schemas.microsoft.com/office/infopath/2007/PartnerControls"/>
    <ds:schemaRef ds:uri="257b14a8-b743-4a5e-bba5-4cc81d9172b0"/>
    <ds:schemaRef ds:uri="http://schemas.microsoft.com/sharepoint/v3"/>
    <ds:schemaRef ds:uri="0017d5b8-0d85-46f1-b229-f43bf6e8c727"/>
  </ds:schemaRefs>
</ds:datastoreItem>
</file>

<file path=docMetadata/LabelInfo.xml><?xml version="1.0" encoding="utf-8"?>
<clbl:labelList xmlns:clbl="http://schemas.microsoft.com/office/2020/mipLabelMetadata">
  <clbl:label id="{ef8fba50-8da3-4418-b31b-a5eabe482877}" enabled="1" method="Privileged" siteId="{655bc315-ddc8-46fd-8e94-a3e10427273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dmTECH</Template>
  <TotalTime>4770</TotalTime>
  <Words>1789</Words>
  <Application>Microsoft Macintosh PowerPoint</Application>
  <PresentationFormat>Widescreen</PresentationFormat>
  <Paragraphs>314</Paragraphs>
  <Slides>28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DM Office</vt:lpstr>
      <vt:lpstr>Symbol</vt:lpstr>
      <vt:lpstr>Wingdings</vt:lpstr>
      <vt:lpstr>dmTECH</vt:lpstr>
      <vt:lpstr>PowerPoint Presentation</vt:lpstr>
      <vt:lpstr>Spoiler!</vt:lpstr>
      <vt:lpstr>whoami</vt:lpstr>
      <vt:lpstr>PowerPoint Presentation</vt:lpstr>
      <vt:lpstr>1. Verschiedene Linuxe u. Anwendungen</vt:lpstr>
      <vt:lpstr>2. Wann patchen?</vt:lpstr>
      <vt:lpstr>Kann man sich den ganzen Aufwand, die vielen bewertungen und entscheidungen nicht auch sparen???</vt:lpstr>
      <vt:lpstr>these</vt:lpstr>
      <vt:lpstr>Trotzdem noch herausforderungen…</vt:lpstr>
      <vt:lpstr>Wie hat dmTech das dilemma gelöst?</vt:lpstr>
      <vt:lpstr>Infrastruktur-upgrade</vt:lpstr>
      <vt:lpstr>Staging 101</vt:lpstr>
      <vt:lpstr>Infrastruktur-upgrade</vt:lpstr>
      <vt:lpstr>Puppet-hiera:</vt:lpstr>
      <vt:lpstr>Puppet-hiera: patching-zeiten, opt-”in”, …</vt:lpstr>
      <vt:lpstr>Hilfsmittel: bash, systemd, cron, ansible, …</vt:lpstr>
      <vt:lpstr>Hilfsmittel: Das herzstück!</vt:lpstr>
      <vt:lpstr>Update-system funktionen</vt:lpstr>
      <vt:lpstr>Update-system ablauf</vt:lpstr>
      <vt:lpstr>Update-system ablauf (2)</vt:lpstr>
      <vt:lpstr>lessons-learned seit 2015</vt:lpstr>
      <vt:lpstr>Hilfsmittel: Agenten</vt:lpstr>
      <vt:lpstr>Patching-infos… everywhere!</vt:lpstr>
      <vt:lpstr>„Monitoring“ des patchens</vt:lpstr>
      <vt:lpstr>„Monitoring“ des (nicht-)patchens oder irgendwas-vergessens</vt:lpstr>
      <vt:lpstr>TL;DR</vt:lpstr>
      <vt:lpstr>Ein paar stats zum ende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Merz, Thomas</dc:creator>
  <cp:lastModifiedBy>Merz, Thomas</cp:lastModifiedBy>
  <cp:revision>58</cp:revision>
  <dcterms:created xsi:type="dcterms:W3CDTF">2025-02-26T11:12:41Z</dcterms:created>
  <dcterms:modified xsi:type="dcterms:W3CDTF">2025-03-18T08:49:37Z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0x010100256BA7DDACF68A4BB0AFDA33EAE94F34</vt:lpwstr>
  </property>
  <property fmtid="{D5CDD505-2E9C-101B-9397-08002B2CF9AE}" pid="3" name="_dlc_DocIdItemGuid">
    <vt:lpwstr>2d0eb894-7b18-4017-901e-ab165d4de20e</vt:lpwstr>
  </property>
  <property fmtid="{D5CDD505-2E9C-101B-9397-08002B2CF9AE}" pid="4" name="MediaServiceImageTags">
    <vt:lpwstr/>
  </property>
</Properties>
</file>